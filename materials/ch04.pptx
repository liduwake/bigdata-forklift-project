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1"/>
  </p:notesMasterIdLst>
  <p:handoutMasterIdLst>
    <p:handoutMasterId r:id="rId42"/>
  </p:handoutMasterIdLst>
  <p:sldIdLst>
    <p:sldId id="343" r:id="rId2"/>
    <p:sldId id="295" r:id="rId3"/>
    <p:sldId id="296" r:id="rId4"/>
    <p:sldId id="297" r:id="rId5"/>
    <p:sldId id="348" r:id="rId6"/>
    <p:sldId id="349" r:id="rId7"/>
    <p:sldId id="350" r:id="rId8"/>
    <p:sldId id="299" r:id="rId9"/>
    <p:sldId id="302" r:id="rId10"/>
    <p:sldId id="303" r:id="rId11"/>
    <p:sldId id="304" r:id="rId12"/>
    <p:sldId id="300" r:id="rId13"/>
    <p:sldId id="312" r:id="rId14"/>
    <p:sldId id="342" r:id="rId15"/>
    <p:sldId id="313" r:id="rId16"/>
    <p:sldId id="347" r:id="rId17"/>
    <p:sldId id="346" r:id="rId18"/>
    <p:sldId id="345" r:id="rId19"/>
    <p:sldId id="336" r:id="rId20"/>
    <p:sldId id="334" r:id="rId21"/>
    <p:sldId id="337" r:id="rId22"/>
    <p:sldId id="338" r:id="rId23"/>
    <p:sldId id="339" r:id="rId24"/>
    <p:sldId id="340" r:id="rId25"/>
    <p:sldId id="323" r:id="rId26"/>
    <p:sldId id="357" r:id="rId27"/>
    <p:sldId id="354" r:id="rId28"/>
    <p:sldId id="355" r:id="rId29"/>
    <p:sldId id="353" r:id="rId30"/>
    <p:sldId id="324" r:id="rId31"/>
    <p:sldId id="325" r:id="rId32"/>
    <p:sldId id="326" r:id="rId33"/>
    <p:sldId id="327" r:id="rId34"/>
    <p:sldId id="328" r:id="rId35"/>
    <p:sldId id="331" r:id="rId36"/>
    <p:sldId id="329" r:id="rId37"/>
    <p:sldId id="330" r:id="rId38"/>
    <p:sldId id="332" r:id="rId39"/>
    <p:sldId id="333" r:id="rId40"/>
  </p:sldIdLst>
  <p:sldSz cx="9144000" cy="6858000" type="screen4x3"/>
  <p:notesSz cx="7315200" cy="9601200"/>
  <p:custDataLst>
    <p:tags r:id="rId4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CF6FE"/>
    <a:srgbClr val="CA5AE4"/>
    <a:srgbClr val="CA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46" autoAdjust="0"/>
  </p:normalViewPr>
  <p:slideViewPr>
    <p:cSldViewPr>
      <p:cViewPr varScale="1">
        <p:scale>
          <a:sx n="105" d="100"/>
          <a:sy n="105" d="100"/>
        </p:scale>
        <p:origin x="119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3816" y="66"/>
      </p:cViewPr>
      <p:guideLst>
        <p:guide orient="horz" pos="3025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7" tIns="48306" rIns="96607" bIns="48306" numCol="1" anchor="b" anchorCtr="0" compatLnSpc="1">
            <a:prstTxWarp prst="textNoShape">
              <a:avLst/>
            </a:prstTxWarp>
          </a:bodyPr>
          <a:lstStyle>
            <a:lvl1pPr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Maurice Geraghty 2020</a:t>
            </a:r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7" tIns="48306" rIns="96607" bIns="48306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E8367126-C4BD-4A05-A2C8-5350EB5D4F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Chapter </a:t>
            </a:r>
            <a:r>
              <a:rPr lang="en-US"/>
              <a:t>4 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7" tIns="48306" rIns="96607" bIns="48306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r>
              <a:rPr lang="en-US"/>
              <a:t>Math 10 Slides - Chapter 3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7" tIns="48306" rIns="96607" bIns="48306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802188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7" tIns="48306" rIns="96607" bIns="483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7" tIns="48306" rIns="96607" bIns="48306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r>
              <a:rPr lang="en-US"/>
              <a:t>© Maurice Geraghty 2008</a:t>
            </a:r>
          </a:p>
        </p:txBody>
      </p:sp>
      <p:sp>
        <p:nvSpPr>
          <p:cNvPr id="501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1775"/>
            <a:ext cx="31686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07" tIns="48306" rIns="96607" bIns="48306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5A48A723-2AD1-4A68-A13A-68CB923278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050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Math 10 - Chapter 1 &amp; 2 Slides</a:t>
            </a:r>
          </a:p>
        </p:txBody>
      </p:sp>
      <p:sp>
        <p:nvSpPr>
          <p:cNvPr id="86019" name="Rectangle 2054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Maurice Geraghty 2008</a:t>
            </a:r>
          </a:p>
        </p:txBody>
      </p:sp>
      <p:sp>
        <p:nvSpPr>
          <p:cNvPr id="86020" name="Rectangle 205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320F985-7867-4BA5-8EDA-FBE4CBEC8A1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D57B9A-B122-4FC4-BFD7-F56FDC99A3F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3789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378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54C3C4-AEEE-41A9-B185-27CCA8BBF69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78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9AC469-7EBD-47CD-B7B4-6F0745B4299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3993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399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7E011D-6EFC-4F17-A557-73C7D32B080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99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096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3589F0-2F0F-4465-8E46-9781A5D2019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19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19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77E23F-A7A8-4DD3-8CC3-7FFBFB4CE7C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19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301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301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A4D0C8-64FF-4607-8650-BAE1FBAAB61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301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403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403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FD54DF-C520-45DF-837E-6D1FFCDA197A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403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505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506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AA40AE5-6CC1-4986-8D3A-F809619E2C0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50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60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3B008C-18DC-4764-A47C-8672E712B43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60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3B008C-18DC-4764-A47C-8672E712B43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60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3B008C-18DC-4764-A47C-8672E712B43B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60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60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3B008C-18DC-4764-A47C-8672E712B43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608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81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81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A6C8E9-8F0E-4367-BDD1-70C16468276E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81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4915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491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B47E3B-6CAF-4158-A3BD-E505E99A707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91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5017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501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5AF2FC-4966-41AD-925C-D6BDA99F04C4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5018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5120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512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98E2F0-5CC4-404B-BF9E-F30A5CBEF416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512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5222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5222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D52DF3-3C52-43DF-BEDF-50B3F68B953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222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3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5325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5325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88703F-4417-4AB9-AF84-4DFC3A877A9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5325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5427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5427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739C53-212B-4002-BDF1-717AE3FB89CA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5427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5529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5530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34A6EC-2ABE-4025-89A2-4EAF3609A1E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5530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5632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5632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14980E0-BF6D-4464-B119-185CE2B6465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5632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5734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5734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DF447A-277F-434E-A667-B9854A5933DC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734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5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5837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5837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EED697-6AE7-47C8-AB84-EB16F7A2C712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5837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/>
              <a:t>Math 10 Slides - Chapter 3</a:t>
            </a:r>
          </a:p>
        </p:txBody>
      </p:sp>
      <p:sp>
        <p:nvSpPr>
          <p:cNvPr id="5939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/>
              <a:t>© Maurice Geraghty 2008</a:t>
            </a:r>
          </a:p>
        </p:txBody>
      </p:sp>
      <p:sp>
        <p:nvSpPr>
          <p:cNvPr id="593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268913-F8D4-4FD1-8335-E8215A71684F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93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1027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1028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1029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1030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1031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Rectangle 1032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" name="Rectangle 1033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34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035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5068" name="Rectangle 1036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5069" name="Rectangle 103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038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039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" name="Rectangle 104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1EF0133-45F9-48AE-AF02-2C7339BCB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6A7F1-B07E-4E62-980E-13A81DD086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3BE43A-444D-442C-8543-189137650F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ABE38-7D11-454F-B3BE-32B4EC5050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38C876-5890-41F0-A9D6-CE47D53885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72414-3922-496C-8AF8-4295B4F646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87A50A-D7BB-4187-A467-786DDBA73C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08CCF-6BD1-450E-B6C1-E271FF712F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9F9F7-F08B-4A09-9534-C5D61F54F4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452346-E8C6-4DAE-AC40-7A8B6CCE46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85A6C-4BE3-4615-AC97-4DC1F1A275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CC4178-9695-4F85-A186-C5B60221DF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D142C1-7469-44AA-AEF0-9A554021C1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F519E-45C1-4C4E-95D3-1E995F4A31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AC0E76-695A-41B7-BA77-6D6694ACF8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404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4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F1B8577-0837-4876-893C-807882C7B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2" r:id="rId1"/>
    <p:sldLayoutId id="2147484098" r:id="rId2"/>
    <p:sldLayoutId id="2147484099" r:id="rId3"/>
    <p:sldLayoutId id="2147484100" r:id="rId4"/>
    <p:sldLayoutId id="2147484101" r:id="rId5"/>
    <p:sldLayoutId id="2147484102" r:id="rId6"/>
    <p:sldLayoutId id="2147484103" r:id="rId7"/>
    <p:sldLayoutId id="2147484104" r:id="rId8"/>
    <p:sldLayoutId id="2147484105" r:id="rId9"/>
    <p:sldLayoutId id="2147484106" r:id="rId10"/>
    <p:sldLayoutId id="2147484107" r:id="rId11"/>
    <p:sldLayoutId id="2147484108" r:id="rId12"/>
    <p:sldLayoutId id="2147484109" r:id="rId13"/>
    <p:sldLayoutId id="2147484110" r:id="rId14"/>
    <p:sldLayoutId id="2147484111" r:id="rId1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sa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AD200F-6C78-429C-AABF-2D8BAA9E5B8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4099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en-US" sz="3600"/>
              <a:t>Inferential Statistics and Probability</a:t>
            </a:r>
            <a:br>
              <a:rPr lang="en-US"/>
            </a:br>
            <a:r>
              <a:rPr lang="en-US" sz="3200"/>
              <a:t>a Holistic Approach</a:t>
            </a:r>
          </a:p>
        </p:txBody>
      </p:sp>
      <p:sp>
        <p:nvSpPr>
          <p:cNvPr id="410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81400"/>
            <a:ext cx="64008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Chapter 4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Probability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br>
              <a:rPr lang="en-US" dirty="0"/>
            </a:br>
            <a:r>
              <a:rPr lang="en-US" sz="1200" dirty="0"/>
              <a:t>This Course Material by Maurice Geraghty is licensed under a Creative Commons Attribution-</a:t>
            </a:r>
            <a:r>
              <a:rPr lang="en-US" sz="1200" dirty="0" err="1"/>
              <a:t>ShareAlike</a:t>
            </a:r>
            <a:r>
              <a:rPr lang="en-US" sz="1200" dirty="0"/>
              <a:t> 4.0 International License. </a:t>
            </a:r>
            <a:br>
              <a:rPr lang="en-US" sz="1200" dirty="0"/>
            </a:br>
            <a:r>
              <a:rPr lang="en-US" sz="1200" dirty="0"/>
              <a:t>Conditions for use are shown here: https://creativecommons.org/licenses/by-sa/4.0/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endParaRPr lang="en-US" sz="1400" dirty="0"/>
          </a:p>
        </p:txBody>
      </p:sp>
      <p:pic>
        <p:nvPicPr>
          <p:cNvPr id="5" name="Picture 4" descr="Creative Commons License">
            <a:hlinkClick r:id="rId3"/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14800" y="5257800"/>
            <a:ext cx="83820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49EB9F1-8629-4031-907B-D23BA06F6E9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Probability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Classical probability</a:t>
            </a:r>
          </a:p>
          <a:p>
            <a:pPr lvl="1" eaLnBrk="1" hangingPunct="1"/>
            <a:r>
              <a:rPr lang="en-US"/>
              <a:t>Based on mathematical formulas</a:t>
            </a:r>
          </a:p>
          <a:p>
            <a:pPr eaLnBrk="1" hangingPunct="1"/>
            <a:r>
              <a:rPr lang="en-US"/>
              <a:t>Empirical probability</a:t>
            </a:r>
          </a:p>
          <a:p>
            <a:pPr lvl="1" eaLnBrk="1" hangingPunct="1"/>
            <a:r>
              <a:rPr lang="en-US"/>
              <a:t>Based on the relative frequencies of historical data.</a:t>
            </a:r>
          </a:p>
          <a:p>
            <a:pPr eaLnBrk="1" hangingPunct="1"/>
            <a:r>
              <a:rPr lang="en-US"/>
              <a:t>Subjective probability</a:t>
            </a:r>
          </a:p>
          <a:p>
            <a:pPr lvl="1" eaLnBrk="1" hangingPunct="1"/>
            <a:r>
              <a:rPr lang="en-US"/>
              <a:t>“one-shot” educated guess.</a:t>
            </a:r>
          </a:p>
          <a:p>
            <a:pPr lvl="1"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34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4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E4A30F-FD03-46F5-BA84-9934E9FBE15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Examples of Probability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What is the probability of rolling a four on a 6-sided die?</a:t>
            </a:r>
          </a:p>
          <a:p>
            <a:pPr eaLnBrk="1" hangingPunct="1"/>
            <a:r>
              <a:rPr lang="en-US" dirty="0"/>
              <a:t>What percentage of </a:t>
            </a:r>
            <a:r>
              <a:rPr lang="en-FI" dirty="0"/>
              <a:t>HAMK</a:t>
            </a:r>
            <a:r>
              <a:rPr lang="en-US" dirty="0"/>
              <a:t> students live in </a:t>
            </a:r>
            <a:r>
              <a:rPr lang="en-FI" dirty="0" err="1"/>
              <a:t>Hämeenlinna</a:t>
            </a:r>
            <a:r>
              <a:rPr lang="en-US" dirty="0"/>
              <a:t>?</a:t>
            </a:r>
          </a:p>
          <a:p>
            <a:pPr eaLnBrk="1" hangingPunct="1"/>
            <a:r>
              <a:rPr lang="en-US" dirty="0"/>
              <a:t>What is the chance that your favorite team will win the championship?</a:t>
            </a:r>
          </a:p>
          <a:p>
            <a:pPr eaLnBrk="1" hangingPunct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7D6009E-F988-43B1-804C-F41A6ED25B3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Classical Probability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Outcome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A </a:t>
            </a:r>
            <a:r>
              <a:rPr lang="en-FI" sz="1800" dirty="0"/>
              <a:t>single </a:t>
            </a:r>
            <a:r>
              <a:rPr lang="en-US" sz="1800" dirty="0"/>
              <a:t>result of the experiment</a:t>
            </a:r>
            <a:r>
              <a:rPr lang="en-FI" sz="1800" dirty="0"/>
              <a:t> in question</a:t>
            </a:r>
            <a:endParaRPr lang="en-FI" sz="20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Event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A </a:t>
            </a:r>
            <a:r>
              <a:rPr lang="en-FI" sz="1800" dirty="0"/>
              <a:t>set of outcomes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400" dirty="0"/>
              <a:t>C</a:t>
            </a:r>
            <a:r>
              <a:rPr lang="en-FI" sz="1400" dirty="0"/>
              <a:t>an be empty, have one outcome, or several outcomes</a:t>
            </a:r>
            <a:endParaRPr lang="en-US" sz="14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Sample Space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The set of all possible outcomes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Probability Event A Occurs - written as P(A)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600" dirty="0"/>
              <a:t>Number of Outcomes in Event A / Number of Outcomes in Sample Space</a:t>
            </a:r>
          </a:p>
          <a:p>
            <a:pPr marL="457200" lvl="1" indent="0" eaLnBrk="1" hangingPunct="1">
              <a:lnSpc>
                <a:spcPct val="90000"/>
              </a:lnSpc>
              <a:buNone/>
            </a:pPr>
            <a:endParaRPr lang="en-US" sz="16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Example – flip two coins, find the probability of exactly 1 head.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Sample Space = {HH, HT, TH, TT}    A= {HT, TH}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1800" dirty="0"/>
              <a:t>P(A) = 2/4 = 0.50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5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54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5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54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5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54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54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54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 bldLvl="2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Field Bet in Craps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06A7F1-B07E-4E62-980E-13A81DD086D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Content Placeholder 4" descr="https://upload.wikimedia.org/wikipedia/en/d/da/Crapslayout.pn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2133600"/>
            <a:ext cx="50292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457200" y="1905000"/>
            <a:ext cx="3429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             Field Bet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2 dice are rolled and totaled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Player wins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even money </a:t>
            </a:r>
            <a:r>
              <a:rPr lang="en-US" sz="2000" dirty="0"/>
              <a:t>on  </a:t>
            </a:r>
            <a:br>
              <a:rPr lang="en-US" sz="2000" dirty="0"/>
            </a:br>
            <a:r>
              <a:rPr lang="en-US" sz="2000" dirty="0"/>
              <a:t>     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3, 4, 9, 10, 11, 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Player wins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double</a:t>
            </a:r>
            <a:r>
              <a:rPr lang="en-US" sz="2000" dirty="0"/>
              <a:t> on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Player wins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triple</a:t>
            </a:r>
            <a:r>
              <a:rPr lang="en-US" sz="2000" dirty="0"/>
              <a:t> on 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12</a:t>
            </a:r>
          </a:p>
          <a:p>
            <a:pPr>
              <a:buFont typeface="Arial" pitchFamily="34" charset="0"/>
              <a:buChar char="•"/>
            </a:pPr>
            <a:r>
              <a:rPr lang="en-US" sz="2000" dirty="0"/>
              <a:t>Player loses bet on</a:t>
            </a:r>
            <a:br>
              <a:rPr lang="en-US" sz="2000" dirty="0"/>
            </a:br>
            <a:r>
              <a:rPr lang="en-US" sz="2000" dirty="0"/>
              <a:t>          </a:t>
            </a:r>
            <a:r>
              <a:rPr lang="en-US" sz="2000" dirty="0">
                <a:solidFill>
                  <a:srgbClr val="FF0000"/>
                </a:solidFill>
              </a:rPr>
              <a:t>5, 6, 7, 8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72440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 has the advantage in this game?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Space </a:t>
            </a:r>
            <a:br>
              <a:rPr lang="en-US" dirty="0"/>
            </a:br>
            <a:r>
              <a:rPr lang="en-US" dirty="0"/>
              <a:t>36 possible pairs of rolls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06A7F1-B07E-4E62-980E-13A81DD086D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5" name="Content Placeholder 4" descr="http://dsearls.org/courses/M120Concepts/ClassNotes/Probability/TwoDice.gif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981200"/>
            <a:ext cx="6477000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ways to make 5, 6, 7,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406A7F1-B07E-4E62-980E-13A81DD086D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778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752600"/>
            <a:ext cx="7233546" cy="304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38200" y="5029200"/>
            <a:ext cx="35814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P(Win) = 16/36 = 0.444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8200" y="5029200"/>
            <a:ext cx="35814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P(Lose) = 20/36 = 0.556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E23D1CC-73BA-49F2-8D8A-432BD898FA17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Empirical Probability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Historical Data</a:t>
            </a:r>
          </a:p>
          <a:p>
            <a:pPr eaLnBrk="1" hangingPunct="1"/>
            <a:r>
              <a:rPr lang="en-US" sz="2800"/>
              <a:t>Relative Frequencies</a:t>
            </a:r>
          </a:p>
          <a:p>
            <a:pPr eaLnBrk="1" hangingPunct="1"/>
            <a:r>
              <a:rPr lang="en-US" sz="2800"/>
              <a:t>Example: What is the chance someone rates their community as good or better?</a:t>
            </a:r>
          </a:p>
          <a:p>
            <a:pPr eaLnBrk="1" hangingPunct="1"/>
            <a:r>
              <a:rPr lang="en-US" sz="2400" b="1">
                <a:solidFill>
                  <a:schemeClr val="tx2"/>
                </a:solidFill>
              </a:rPr>
              <a:t>0.51 + 0.32 = 0.83</a:t>
            </a:r>
          </a:p>
        </p:txBody>
      </p:sp>
      <p:graphicFrame>
        <p:nvGraphicFramePr>
          <p:cNvPr id="107524" name="Object 4"/>
          <p:cNvGraphicFramePr>
            <a:graphicFrameLocks noGrp="1" noChangeAspect="1"/>
          </p:cNvGraphicFramePr>
          <p:nvPr>
            <p:ph type="chart" sz="half" idx="2"/>
          </p:nvPr>
        </p:nvGraphicFramePr>
        <p:xfrm>
          <a:off x="5145088" y="2017713"/>
          <a:ext cx="38100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500000" imgH="4860000" progId="MSGraph.Chart.8">
                  <p:embed followColorScheme="full"/>
                </p:oleObj>
              </mc:Choice>
              <mc:Fallback>
                <p:oleObj name="Chart" r:id="rId3" imgW="4500000" imgH="4860000" progId="MSGraph.Chart.8">
                  <p:embed followColorScheme="full"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5088" y="2017713"/>
                        <a:ext cx="3810000" cy="411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 autoUpdateAnimBg="0"/>
      <p:bldOleChart spid="1075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416AF5F-220B-3C82-71B9-3753CFF1778A}"/>
              </a:ext>
            </a:extLst>
          </p:cNvPr>
          <p:cNvGrpSpPr/>
          <p:nvPr/>
        </p:nvGrpSpPr>
        <p:grpSpPr>
          <a:xfrm>
            <a:off x="5638800" y="4648200"/>
            <a:ext cx="3200400" cy="2209800"/>
            <a:chOff x="5791200" y="2514600"/>
            <a:chExt cx="3200400" cy="2209800"/>
          </a:xfrm>
        </p:grpSpPr>
        <p:sp>
          <p:nvSpPr>
            <p:cNvPr id="110606" name="Rectangle 14"/>
            <p:cNvSpPr>
              <a:spLocks noChangeArrowheads="1"/>
            </p:cNvSpPr>
            <p:nvPr/>
          </p:nvSpPr>
          <p:spPr bwMode="auto">
            <a:xfrm>
              <a:off x="5791200" y="2514600"/>
              <a:ext cx="3200400" cy="2209800"/>
            </a:xfrm>
            <a:prstGeom prst="rect">
              <a:avLst/>
            </a:prstGeom>
            <a:solidFill>
              <a:srgbClr val="CAE8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608" name="Oval 16"/>
            <p:cNvSpPr>
              <a:spLocks noChangeArrowheads="1"/>
            </p:cNvSpPr>
            <p:nvPr/>
          </p:nvSpPr>
          <p:spPr bwMode="auto">
            <a:xfrm>
              <a:off x="6172200" y="2819400"/>
              <a:ext cx="1447800" cy="1371600"/>
            </a:xfrm>
            <a:prstGeom prst="ellipse">
              <a:avLst/>
            </a:prstGeom>
            <a:solidFill>
              <a:srgbClr val="CA5AE4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610" name="Text Box 18"/>
            <p:cNvSpPr txBox="1">
              <a:spLocks noChangeArrowheads="1"/>
            </p:cNvSpPr>
            <p:nvPr/>
          </p:nvSpPr>
          <p:spPr bwMode="auto">
            <a:xfrm>
              <a:off x="7832725" y="3995738"/>
              <a:ext cx="431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A’</a:t>
              </a:r>
            </a:p>
          </p:txBody>
        </p:sp>
      </p:grpSp>
      <p:sp>
        <p:nvSpPr>
          <p:cNvPr id="102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42417D6-D112-4B26-AE88-157D91A73B7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Rule of Complement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7" y="2017712"/>
            <a:ext cx="7656513" cy="4764087"/>
          </a:xfrm>
        </p:spPr>
        <p:txBody>
          <a:bodyPr/>
          <a:lstStyle/>
          <a:p>
            <a:pPr eaLnBrk="1" hangingPunct="1"/>
            <a:r>
              <a:rPr lang="en-US" sz="2800" dirty="0"/>
              <a:t>Complement of an event</a:t>
            </a:r>
            <a:r>
              <a:rPr lang="en-FI" sz="2800" dirty="0"/>
              <a:t> A is A’</a:t>
            </a:r>
            <a:endParaRPr lang="en-US" sz="2800" dirty="0"/>
          </a:p>
          <a:p>
            <a:pPr eaLnBrk="1" hangingPunct="1"/>
            <a:r>
              <a:rPr lang="en-FI" sz="2800" dirty="0"/>
              <a:t>if A</a:t>
            </a:r>
            <a:r>
              <a:rPr lang="en-US" sz="2800" dirty="0"/>
              <a:t> o</a:t>
            </a:r>
            <a:r>
              <a:rPr lang="en-FI" sz="2800" dirty="0" err="1"/>
              <a:t>ccurs</a:t>
            </a:r>
            <a:r>
              <a:rPr lang="en-FI" sz="2800" dirty="0"/>
              <a:t> then A’  does not occur (and vice versa)</a:t>
            </a:r>
            <a:endParaRPr lang="en-US" sz="2800" dirty="0"/>
          </a:p>
          <a:p>
            <a:pPr eaLnBrk="1" hangingPunct="1"/>
            <a:r>
              <a:rPr lang="en-FI" sz="2800" dirty="0"/>
              <a:t>Then </a:t>
            </a:r>
            <a:r>
              <a:rPr lang="en-US" sz="2800" dirty="0"/>
              <a:t>P(A) + P(A’) =1</a:t>
            </a:r>
          </a:p>
          <a:p>
            <a:pPr eaLnBrk="1" hangingPunct="1"/>
            <a:r>
              <a:rPr lang="en-FI" sz="2800" dirty="0"/>
              <a:t>or also </a:t>
            </a:r>
            <a:r>
              <a:rPr lang="en-US" sz="2800" dirty="0"/>
              <a:t>P(A) = 1 – P(A’) </a:t>
            </a:r>
            <a:endParaRPr lang="en-FI" sz="2800" dirty="0"/>
          </a:p>
          <a:p>
            <a:pPr eaLnBrk="1" hangingPunct="1"/>
            <a:r>
              <a:rPr lang="en-FI" sz="2800" dirty="0"/>
              <a:t>In some cases A is very</a:t>
            </a:r>
            <a:br>
              <a:rPr lang="en-FI" sz="2800" dirty="0"/>
            </a:br>
            <a:r>
              <a:rPr lang="en-FI" sz="2800" dirty="0"/>
              <a:t>hard to calculate, but A’</a:t>
            </a:r>
            <a:br>
              <a:rPr lang="en-FI" sz="2800" dirty="0"/>
            </a:br>
            <a:r>
              <a:rPr lang="en-FI" sz="2800" dirty="0"/>
              <a:t>is not</a:t>
            </a:r>
            <a:endParaRPr lang="en-US" sz="2800" dirty="0"/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</p:txBody>
      </p:sp>
      <p:sp>
        <p:nvSpPr>
          <p:cNvPr id="110609" name="Text Box 17"/>
          <p:cNvSpPr txBox="1">
            <a:spLocks noChangeArrowheads="1"/>
          </p:cNvSpPr>
          <p:nvPr/>
        </p:nvSpPr>
        <p:spPr bwMode="auto">
          <a:xfrm>
            <a:off x="6397425" y="5181600"/>
            <a:ext cx="36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dirty="0"/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 autoUpdateAnimBg="0"/>
      <p:bldP spid="11060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AF85AE-7314-439C-8448-1DDB5981CEE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Joint Probability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981200"/>
            <a:ext cx="5638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dirty="0">
                <a:solidFill>
                  <a:schemeClr val="tx2"/>
                </a:solidFill>
              </a:rPr>
              <a:t>UNION </a:t>
            </a:r>
            <a:r>
              <a:rPr lang="en-US" sz="2400" dirty="0"/>
              <a:t>of two events A and B is that either A </a:t>
            </a:r>
            <a:r>
              <a:rPr lang="en-US" sz="2400" dirty="0">
                <a:solidFill>
                  <a:schemeClr val="tx2"/>
                </a:solidFill>
              </a:rPr>
              <a:t>or</a:t>
            </a:r>
            <a:r>
              <a:rPr lang="en-US" sz="2400" dirty="0"/>
              <a:t> B occur (or both). </a:t>
            </a:r>
            <a:br>
              <a:rPr lang="en-US" sz="2400" dirty="0"/>
            </a:br>
            <a:r>
              <a:rPr lang="en-US" sz="2400" dirty="0"/>
              <a:t>(All colored parts)</a:t>
            </a:r>
            <a:br>
              <a:rPr lang="en-US" sz="2400" dirty="0"/>
            </a:b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dirty="0">
                <a:solidFill>
                  <a:schemeClr val="tx2"/>
                </a:solidFill>
              </a:rPr>
              <a:t>INTERSECTION</a:t>
            </a:r>
            <a:r>
              <a:rPr lang="en-US" sz="2400" dirty="0"/>
              <a:t> of two events A and B is that both A </a:t>
            </a:r>
            <a:r>
              <a:rPr lang="en-US" sz="2400" dirty="0">
                <a:solidFill>
                  <a:schemeClr val="tx2"/>
                </a:solidFill>
              </a:rPr>
              <a:t>and</a:t>
            </a:r>
            <a:r>
              <a:rPr lang="en-US" sz="2400" dirty="0"/>
              <a:t> B will occur. (Purple Part only)</a:t>
            </a:r>
            <a:br>
              <a:rPr lang="en-US" sz="2400" dirty="0"/>
            </a:b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Additive Rule: </a:t>
            </a:r>
            <a:br>
              <a:rPr lang="en-US" sz="2400" dirty="0"/>
            </a:br>
            <a:r>
              <a:rPr lang="en-US" sz="2400" dirty="0"/>
              <a:t>P(A or B) = P(A) + P(B) – P(A and B)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endParaRPr lang="en-US" sz="18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758348-80C6-4867-AF0B-4128476CB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925" y="2163840"/>
            <a:ext cx="2962275" cy="1895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1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D787E52-EC86-4AD7-B76D-216B77C1144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I</a:t>
            </a:r>
            <a:r>
              <a:rPr lang="en-US"/>
              <a:t>n a group of students, 40% are taking Math, 20% are taking History. </a:t>
            </a:r>
          </a:p>
          <a:p>
            <a:pPr eaLnBrk="1" hangingPunct="1"/>
            <a:r>
              <a:rPr lang="en-US"/>
              <a:t>10% of students are taking both Math and History. </a:t>
            </a:r>
          </a:p>
          <a:p>
            <a:pPr eaLnBrk="1" hangingPunct="1"/>
            <a:r>
              <a:rPr lang="en-US"/>
              <a:t>Find the Probability of a Student taking either Math or History or both.</a:t>
            </a:r>
          </a:p>
          <a:p>
            <a:pPr eaLnBrk="1" hangingPunct="1"/>
            <a:r>
              <a:rPr lang="en-US"/>
              <a:t>P(M or H) = 40% + 20% - 10% = 50%</a:t>
            </a:r>
          </a:p>
          <a:p>
            <a:pPr eaLnBrk="1" hangingPunct="1">
              <a:buFont typeface="Wingdings" pitchFamily="2" charset="2"/>
              <a:buNone/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583C9A9-3D0E-4008-85D6-53A0AA0A592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Mutually Exclusive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/>
              <a:t>Mutually Exclusive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Both cannot occur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If A and B are mutually exclusive, then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P(A or B) = P(A) + P(B)</a:t>
            </a:r>
          </a:p>
          <a:p>
            <a:pPr eaLnBrk="1" hangingPunct="1">
              <a:lnSpc>
                <a:spcPct val="90000"/>
              </a:lnSpc>
            </a:pPr>
            <a:r>
              <a:rPr lang="en-US"/>
              <a:t>Example roll a die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A: Roll 2 or less       B: Roll 5 or more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P(A)=2/6   P(B)=2/6    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/>
              <a:t>P(A or B) = P(A) + P(B) = 4/6  </a:t>
            </a:r>
          </a:p>
          <a:p>
            <a:pPr eaLnBrk="1" hangingPunct="1">
              <a:buFont typeface="Wingdings" pitchFamily="2" charset="2"/>
              <a:buNone/>
            </a:pPr>
            <a:endParaRPr lang="en-US" sz="360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638800" y="1828800"/>
            <a:ext cx="2438400" cy="1219200"/>
            <a:chOff x="1584" y="2736"/>
            <a:chExt cx="1968" cy="1008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1710" y="2857"/>
              <a:ext cx="753" cy="726"/>
            </a:xfrm>
            <a:prstGeom prst="ellipse">
              <a:avLst/>
            </a:prstGeom>
            <a:solidFill>
              <a:srgbClr val="0033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673" y="2857"/>
              <a:ext cx="753" cy="726"/>
            </a:xfrm>
            <a:prstGeom prst="ellipse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96" name="Rectangle 7"/>
            <p:cNvSpPr>
              <a:spLocks noChangeArrowheads="1"/>
            </p:cNvSpPr>
            <p:nvPr/>
          </p:nvSpPr>
          <p:spPr bwMode="auto">
            <a:xfrm>
              <a:off x="1584" y="2736"/>
              <a:ext cx="1968" cy="100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85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8DDC0-09F2-44E1-A17C-F4E52C6D93A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Conditional Probability</a:t>
            </a:r>
          </a:p>
        </p:txBody>
      </p:sp>
      <p:sp>
        <p:nvSpPr>
          <p:cNvPr id="12083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probability of an event </a:t>
            </a:r>
            <a:r>
              <a:rPr lang="en-US" sz="2400" dirty="0" err="1"/>
              <a:t>occuring</a:t>
            </a:r>
            <a:r>
              <a:rPr lang="en-US" sz="2400" dirty="0"/>
              <a:t> GIVEN another event has already occurred.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P(A|B) = P(A and B) / P(B)</a:t>
            </a:r>
            <a:br>
              <a:rPr lang="en-US" sz="2400" dirty="0"/>
            </a:b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000" dirty="0"/>
              <a:t>Example: Of all smart phone users in the US, 21% have an Apple iPhone and AT&amp;T. 35% of all smart phone users have AT&amp;T. Given a selected smart phone user has AT&amp;T, find the probability the user also has an Apple iPhone.</a:t>
            </a:r>
            <a:br>
              <a:rPr lang="en-US" sz="2000" dirty="0"/>
            </a:br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A=AT&amp;T subscriber      	B=Apple iPhone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P(A and B) = 0.21		P(A)=0.35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P(B|A) = 0.21/0.35 = 0.60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8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8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08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08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08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0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083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Marginal, Joint and </a:t>
            </a:r>
            <a:br>
              <a:rPr lang="en-US"/>
            </a:br>
            <a:r>
              <a:rPr lang="en-US"/>
              <a:t>Conditional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Marginal Probability</a:t>
            </a:r>
            <a:r>
              <a:rPr lang="en-US" sz="2800" dirty="0"/>
              <a:t> means the probability of a single event occurring.</a:t>
            </a:r>
          </a:p>
          <a:p>
            <a:r>
              <a:rPr lang="en-US" sz="2800" b="1" dirty="0"/>
              <a:t>Joint Probability</a:t>
            </a:r>
            <a:r>
              <a:rPr lang="en-US" sz="2800" dirty="0"/>
              <a:t> means the probability of the union or intersection of multiple events occurring (and/or statements).</a:t>
            </a:r>
            <a:endParaRPr lang="en-US" sz="2800" b="1" dirty="0"/>
          </a:p>
          <a:p>
            <a:r>
              <a:rPr lang="en-US" sz="2800" b="1" dirty="0"/>
              <a:t>Conditional Probability</a:t>
            </a:r>
            <a:r>
              <a:rPr lang="en-US" sz="2800" dirty="0"/>
              <a:t> means the probability of an event occurring given that another event has already occurred. </a:t>
            </a:r>
          </a:p>
          <a:p>
            <a:endParaRPr 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71D096-0830-40DF-808A-95E16E008D94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3A3EDD-E5A9-4C7D-B85E-DAD7C86E6F1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Contingency Tables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Two data items can be displayed in a contingency table.</a:t>
            </a:r>
          </a:p>
          <a:p>
            <a:pPr eaLnBrk="1" hangingPunct="1"/>
            <a:r>
              <a:rPr lang="en-US" sz="2800" dirty="0"/>
              <a:t>Example: auto accident during year and DUI of driver.</a:t>
            </a:r>
          </a:p>
        </p:txBody>
      </p:sp>
      <p:graphicFrame>
        <p:nvGraphicFramePr>
          <p:cNvPr id="121860" name="Group 4"/>
          <p:cNvGraphicFramePr>
            <a:graphicFrameLocks noGrp="1"/>
          </p:cNvGraphicFramePr>
          <p:nvPr/>
        </p:nvGraphicFramePr>
        <p:xfrm>
          <a:off x="1524000" y="3962400"/>
          <a:ext cx="6096000" cy="1651635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Non- DUI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3A3EDD-E5A9-4C7D-B85E-DAD7C86E6F1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Marginal  Probability</a:t>
            </a:r>
          </a:p>
        </p:txBody>
      </p:sp>
      <p:graphicFrame>
        <p:nvGraphicFramePr>
          <p:cNvPr id="121860" name="Group 4"/>
          <p:cNvGraphicFramePr>
            <a:graphicFrameLocks noGrp="1"/>
          </p:cNvGraphicFramePr>
          <p:nvPr/>
        </p:nvGraphicFramePr>
        <p:xfrm>
          <a:off x="838200" y="1828800"/>
          <a:ext cx="6096000" cy="1651635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Non- DUI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2017713"/>
            <a:ext cx="8269288" cy="4114800"/>
          </a:xfrm>
        </p:spPr>
        <p:txBody>
          <a:bodyPr/>
          <a:lstStyle/>
          <a:p>
            <a:endParaRPr lang="en-US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2400" dirty="0"/>
          </a:p>
          <a:p>
            <a:r>
              <a:rPr lang="en-US" sz="1800" dirty="0"/>
              <a:t>Find the Probability a Driver had an Accident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P(A) = 100/1000 = 0.10</a:t>
            </a:r>
          </a:p>
          <a:p>
            <a:pPr>
              <a:buNone/>
            </a:pPr>
            <a:endParaRPr lang="en-US" sz="1800" dirty="0"/>
          </a:p>
          <a:p>
            <a:r>
              <a:rPr lang="en-US" sz="1800" dirty="0"/>
              <a:t>Find the Probability was not DUI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P(D’) = 1 – 200/1000 = 0.80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905000"/>
            <a:ext cx="167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= Accident</a:t>
            </a:r>
          </a:p>
          <a:p>
            <a:endParaRPr lang="en-US" sz="2000" dirty="0"/>
          </a:p>
          <a:p>
            <a:r>
              <a:rPr lang="en-US" sz="2000" dirty="0"/>
              <a:t>D = DUI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3A3EDD-E5A9-4C7D-B85E-DAD7C86E6F1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Joint Probability</a:t>
            </a:r>
          </a:p>
        </p:txBody>
      </p:sp>
      <p:graphicFrame>
        <p:nvGraphicFramePr>
          <p:cNvPr id="121860" name="Group 4"/>
          <p:cNvGraphicFramePr>
            <a:graphicFrameLocks noGrp="1"/>
          </p:cNvGraphicFramePr>
          <p:nvPr/>
        </p:nvGraphicFramePr>
        <p:xfrm>
          <a:off x="838200" y="1828800"/>
          <a:ext cx="6096000" cy="1651635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Non- DUI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2017713"/>
            <a:ext cx="8269288" cy="4114800"/>
          </a:xfrm>
        </p:spPr>
        <p:txBody>
          <a:bodyPr/>
          <a:lstStyle/>
          <a:p>
            <a:endParaRPr lang="en-US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2400" dirty="0"/>
          </a:p>
          <a:p>
            <a:r>
              <a:rPr lang="en-US" sz="1800" dirty="0"/>
              <a:t>Find the Probability a Driver had an Accident </a:t>
            </a:r>
            <a:r>
              <a:rPr lang="en-US" sz="1800" b="1" dirty="0"/>
              <a:t>and</a:t>
            </a:r>
            <a:r>
              <a:rPr lang="en-US" sz="1800" dirty="0"/>
              <a:t> was DUI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P(A and D) = 70/1000 = 0.07</a:t>
            </a:r>
          </a:p>
          <a:p>
            <a:pPr>
              <a:buNone/>
            </a:pPr>
            <a:endParaRPr lang="en-US" sz="1800" dirty="0"/>
          </a:p>
          <a:p>
            <a:r>
              <a:rPr lang="en-US" sz="1800" dirty="0"/>
              <a:t>Find the Probability a Driver had an Accident </a:t>
            </a:r>
            <a:r>
              <a:rPr lang="en-US" sz="1800" b="1" dirty="0"/>
              <a:t>or</a:t>
            </a:r>
            <a:r>
              <a:rPr lang="en-US" sz="1800" dirty="0"/>
              <a:t> was DUI 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P(A or D) = P(A) + P(D) – P(A and D) = (100+200-70)/1000 = 0.23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905000"/>
            <a:ext cx="167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= Accident</a:t>
            </a:r>
          </a:p>
          <a:p>
            <a:endParaRPr lang="en-US" sz="2000" dirty="0"/>
          </a:p>
          <a:p>
            <a:r>
              <a:rPr lang="en-US" sz="2000" dirty="0"/>
              <a:t>D = DUI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63A3EDD-E5A9-4C7D-B85E-DAD7C86E6F1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Conditional  Probability</a:t>
            </a:r>
          </a:p>
        </p:txBody>
      </p:sp>
      <p:graphicFrame>
        <p:nvGraphicFramePr>
          <p:cNvPr id="121860" name="Group 4"/>
          <p:cNvGraphicFramePr>
            <a:graphicFrameLocks noGrp="1"/>
          </p:cNvGraphicFramePr>
          <p:nvPr/>
        </p:nvGraphicFramePr>
        <p:xfrm>
          <a:off x="838200" y="1828800"/>
          <a:ext cx="6096000" cy="1651635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Non- DUI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85800" y="2017713"/>
            <a:ext cx="8269288" cy="4114800"/>
          </a:xfrm>
        </p:spPr>
        <p:txBody>
          <a:bodyPr/>
          <a:lstStyle/>
          <a:p>
            <a:endParaRPr lang="en-US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1600" dirty="0"/>
          </a:p>
          <a:p>
            <a:pPr>
              <a:buNone/>
            </a:pPr>
            <a:endParaRPr lang="en-US" sz="2400" dirty="0"/>
          </a:p>
          <a:p>
            <a:r>
              <a:rPr lang="en-US" sz="1800" dirty="0"/>
              <a:t>Find the Probability a DUI Driver had an Accident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P(A|D) = 70/200 = 0.35</a:t>
            </a:r>
          </a:p>
          <a:p>
            <a:pPr>
              <a:buNone/>
            </a:pPr>
            <a:endParaRPr lang="en-US" sz="1800" dirty="0"/>
          </a:p>
          <a:p>
            <a:r>
              <a:rPr lang="en-US" sz="1800" dirty="0"/>
              <a:t>Find the Probability a Driver who had an Accident is also DUI</a:t>
            </a:r>
            <a:br>
              <a:rPr lang="en-US" sz="1800" dirty="0"/>
            </a:br>
            <a:endParaRPr lang="en-US" sz="1800" dirty="0"/>
          </a:p>
          <a:p>
            <a:r>
              <a:rPr lang="en-US" sz="1800" dirty="0"/>
              <a:t>P(D|A) = 70/100 = 0.70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905000"/>
            <a:ext cx="167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= Accident</a:t>
            </a:r>
          </a:p>
          <a:p>
            <a:endParaRPr lang="en-US" sz="2000" dirty="0"/>
          </a:p>
          <a:p>
            <a:r>
              <a:rPr lang="en-US" sz="2000" dirty="0"/>
              <a:t>D = DUI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DD2784C-EC37-41F8-AC80-640685741D0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Creating Contingency Tables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400"/>
              <a:t>You can create a hypothetical contingency table from reported cross tabulated data.</a:t>
            </a:r>
          </a:p>
          <a:p>
            <a:pPr eaLnBrk="1" hangingPunct="1"/>
            <a:r>
              <a:rPr lang="en-US" sz="2400"/>
              <a:t>First choose a convenient sample size (called a radix) like 10000.</a:t>
            </a:r>
          </a:p>
          <a:p>
            <a:pPr eaLnBrk="1" hangingPunct="1"/>
            <a:r>
              <a:rPr lang="en-US" sz="2400"/>
              <a:t>Then apply the reported marginal probabilities to the radix of one of the variables.</a:t>
            </a:r>
          </a:p>
          <a:p>
            <a:pPr eaLnBrk="1" hangingPunct="1"/>
            <a:r>
              <a:rPr lang="en-US" sz="2400"/>
              <a:t>Then apply the reported conditional probabilities to the total values of one of the other variable.</a:t>
            </a:r>
          </a:p>
          <a:p>
            <a:pPr eaLnBrk="1" hangingPunct="1"/>
            <a:r>
              <a:rPr lang="en-US" sz="2400"/>
              <a:t>Complete the table with arithmetic.</a:t>
            </a:r>
          </a:p>
          <a:p>
            <a:pPr eaLnBrk="1" hangingPunct="1">
              <a:buFont typeface="Wingdings" pitchFamily="2" charset="2"/>
              <a:buNone/>
            </a:pPr>
            <a:endParaRPr 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8435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7B6EC23-1116-45D8-A3D4-CA59F3EC837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4648200"/>
            <a:ext cx="3609975" cy="167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200400"/>
            <a:ext cx="5387975" cy="136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09600" y="2133600"/>
            <a:ext cx="7391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Create a two-way table from the cross tabulation of gender from the 2016 election results (from CNN)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7793038" cy="1143000"/>
          </a:xfrm>
        </p:spPr>
        <p:txBody>
          <a:bodyPr/>
          <a:lstStyle/>
          <a:p>
            <a:r>
              <a:rPr lang="en-US"/>
              <a:t>Example </a:t>
            </a:r>
          </a:p>
        </p:txBody>
      </p:sp>
      <p:sp>
        <p:nvSpPr>
          <p:cNvPr id="19459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4455D8-EB4A-416E-A2B5-099537A80A1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9460" name="TextBox 6"/>
          <p:cNvSpPr txBox="1">
            <a:spLocks noChangeArrowheads="1"/>
          </p:cNvSpPr>
          <p:nvPr/>
        </p:nvSpPr>
        <p:spPr bwMode="auto">
          <a:xfrm>
            <a:off x="609600" y="2133600"/>
            <a:ext cx="739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First select a radix (sample size) of 10000</a:t>
            </a:r>
          </a:p>
        </p:txBody>
      </p:sp>
      <p:pic>
        <p:nvPicPr>
          <p:cNvPr id="1946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200400"/>
            <a:ext cx="4953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200400"/>
            <a:ext cx="4953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7793038" cy="1143000"/>
          </a:xfrm>
        </p:spPr>
        <p:txBody>
          <a:bodyPr/>
          <a:lstStyle/>
          <a:p>
            <a:r>
              <a:rPr lang="en-US"/>
              <a:t>Example </a:t>
            </a:r>
          </a:p>
        </p:txBody>
      </p:sp>
      <p:sp>
        <p:nvSpPr>
          <p:cNvPr id="20484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6B75222-BC8F-45BA-9393-D469414AB1B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0485" name="TextBox 6"/>
          <p:cNvSpPr txBox="1">
            <a:spLocks noChangeArrowheads="1"/>
          </p:cNvSpPr>
          <p:nvPr/>
        </p:nvSpPr>
        <p:spPr bwMode="auto">
          <a:xfrm>
            <a:off x="609600" y="2133600"/>
            <a:ext cx="7391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Then apply the marginal probabilities to the radix</a:t>
            </a:r>
            <a:br>
              <a:rPr lang="en-US"/>
            </a:br>
            <a:r>
              <a:rPr lang="en-US"/>
              <a:t>(53% female, 47% male)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200400"/>
            <a:ext cx="4953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7793038" cy="1143000"/>
          </a:xfrm>
        </p:spPr>
        <p:txBody>
          <a:bodyPr/>
          <a:lstStyle/>
          <a:p>
            <a:r>
              <a:rPr lang="en-US"/>
              <a:t>Example </a:t>
            </a:r>
          </a:p>
        </p:txBody>
      </p:sp>
      <p:sp>
        <p:nvSpPr>
          <p:cNvPr id="21508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CBFA8B4-9E38-4C7F-AA19-A52A43775A64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21509" name="TextBox 6"/>
          <p:cNvSpPr txBox="1">
            <a:spLocks noChangeArrowheads="1"/>
          </p:cNvSpPr>
          <p:nvPr/>
        </p:nvSpPr>
        <p:spPr bwMode="auto">
          <a:xfrm>
            <a:off x="609600" y="2133600"/>
            <a:ext cx="7391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Then apply the cross tabulated percentages for each gender. Make sure the numbers add up.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3200400"/>
            <a:ext cx="4953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7793038" cy="1143000"/>
          </a:xfrm>
        </p:spPr>
        <p:txBody>
          <a:bodyPr/>
          <a:lstStyle/>
          <a:p>
            <a:r>
              <a:rPr lang="en-US"/>
              <a:t>Example </a:t>
            </a:r>
          </a:p>
        </p:txBody>
      </p:sp>
      <p:sp>
        <p:nvSpPr>
          <p:cNvPr id="22532" name="Slide Number Placeholder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CDA2ACF-82A2-4139-AD4C-DF1776815C6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22533" name="TextBox 6"/>
          <p:cNvSpPr txBox="1">
            <a:spLocks noChangeArrowheads="1"/>
          </p:cNvSpPr>
          <p:nvPr/>
        </p:nvSpPr>
        <p:spPr bwMode="auto">
          <a:xfrm>
            <a:off x="609600" y="2133600"/>
            <a:ext cx="739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Finally, complete the table using arithmetic.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8819E31-4E6F-4DB6-901C-365F7091896A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Multiplicative Rule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P(A and B) = P(A)P(B|A)</a:t>
            </a:r>
            <a:r>
              <a:rPr lang="en-FI" dirty="0"/>
              <a:t> or also</a:t>
            </a:r>
            <a:endParaRPr lang="en-US" dirty="0"/>
          </a:p>
          <a:p>
            <a:pPr eaLnBrk="1" hangingPunct="1"/>
            <a:r>
              <a:rPr lang="en-US" dirty="0"/>
              <a:t>P(A and B) = P(B)P(A|B)</a:t>
            </a:r>
          </a:p>
          <a:p>
            <a:pPr eaLnBrk="1" hangingPunct="1"/>
            <a:r>
              <a:rPr lang="en-US" sz="2400" dirty="0"/>
              <a:t>Example: A box contains 4 green balls and 3 red balls. Two balls are drawn</a:t>
            </a:r>
            <a:r>
              <a:rPr lang="en-FI" sz="2400" dirty="0"/>
              <a:t> without replacement</a:t>
            </a:r>
            <a:r>
              <a:rPr lang="en-US" sz="2400" dirty="0"/>
              <a:t>. Find the probability of choosing two red balls.</a:t>
            </a:r>
          </a:p>
          <a:p>
            <a:pPr eaLnBrk="1" hangingPunct="1"/>
            <a:r>
              <a:rPr lang="en-US" sz="2400" dirty="0"/>
              <a:t>A=Red Ball on 1</a:t>
            </a:r>
            <a:r>
              <a:rPr lang="en-US" sz="2400" baseline="30000" dirty="0"/>
              <a:t>st</a:t>
            </a:r>
            <a:r>
              <a:rPr lang="en-US" sz="2400" dirty="0"/>
              <a:t> draw	 B=Red Ball on 2</a:t>
            </a:r>
            <a:r>
              <a:rPr lang="en-US" sz="2400" baseline="30000" dirty="0"/>
              <a:t>nd</a:t>
            </a:r>
            <a:r>
              <a:rPr lang="en-US" sz="2400" dirty="0"/>
              <a:t> Draw</a:t>
            </a:r>
          </a:p>
          <a:p>
            <a:pPr eaLnBrk="1" hangingPunct="1"/>
            <a:r>
              <a:rPr lang="en-US" sz="2400" dirty="0"/>
              <a:t>P(A)=3/7	P(B|A)=2/6</a:t>
            </a:r>
          </a:p>
          <a:p>
            <a:pPr eaLnBrk="1" hangingPunct="1"/>
            <a:r>
              <a:rPr lang="en-US" sz="2400" dirty="0">
                <a:solidFill>
                  <a:schemeClr val="tx2"/>
                </a:solidFill>
              </a:rPr>
              <a:t>P(A and B) = (3/7)(2/6) = 1/7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Multiplicative Rule – Tree Diagram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974FCA-19B9-4210-902B-50618CDF6274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24580" name="Content Placeholder 4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75319" y="2057400"/>
            <a:ext cx="7015163" cy="41148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CC3B60-6637-47A6-AF78-D1BE79C5204B}"/>
              </a:ext>
            </a:extLst>
          </p:cNvPr>
          <p:cNvSpPr/>
          <p:nvPr/>
        </p:nvSpPr>
        <p:spPr bwMode="auto">
          <a:xfrm>
            <a:off x="758924" y="5554662"/>
            <a:ext cx="7015162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016A0896-C439-4AB1-89E0-D1C16ED05981}"/>
              </a:ext>
            </a:extLst>
          </p:cNvPr>
          <p:cNvSpPr/>
          <p:nvPr/>
        </p:nvSpPr>
        <p:spPr bwMode="auto">
          <a:xfrm>
            <a:off x="1121783" y="3810000"/>
            <a:ext cx="1141180" cy="609600"/>
          </a:xfrm>
          <a:prstGeom prst="snip1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C6DF3F8-0D02-47EB-81BD-656DC6F19B16}"/>
              </a:ext>
            </a:extLst>
          </p:cNvPr>
          <p:cNvSpPr/>
          <p:nvPr/>
        </p:nvSpPr>
        <p:spPr bwMode="auto">
          <a:xfrm rot="10800000">
            <a:off x="3219781" y="3811249"/>
            <a:ext cx="1046724" cy="609600"/>
          </a:xfrm>
          <a:prstGeom prst="snip1Rect">
            <a:avLst>
              <a:gd name="adj" fmla="val 28389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3DACB8D7-2E00-4EDB-91E4-B95FFCE7EFF0}"/>
              </a:ext>
            </a:extLst>
          </p:cNvPr>
          <p:cNvSpPr/>
          <p:nvPr/>
        </p:nvSpPr>
        <p:spPr bwMode="auto">
          <a:xfrm rot="10800000">
            <a:off x="6887419" y="3902985"/>
            <a:ext cx="1046724" cy="578528"/>
          </a:xfrm>
          <a:prstGeom prst="snip1Rect">
            <a:avLst>
              <a:gd name="adj" fmla="val 28389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EFAF0650-39DB-45F5-A409-55F8315E82C2}"/>
              </a:ext>
            </a:extLst>
          </p:cNvPr>
          <p:cNvSpPr/>
          <p:nvPr/>
        </p:nvSpPr>
        <p:spPr bwMode="auto">
          <a:xfrm rot="5400000">
            <a:off x="5185645" y="3668887"/>
            <a:ext cx="578528" cy="1046725"/>
          </a:xfrm>
          <a:prstGeom prst="snip1Rect">
            <a:avLst>
              <a:gd name="adj" fmla="val 28389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B69007D9-2BA1-484F-8A13-A4270F099ECF}"/>
              </a:ext>
            </a:extLst>
          </p:cNvPr>
          <p:cNvSpPr/>
          <p:nvPr/>
        </p:nvSpPr>
        <p:spPr bwMode="auto">
          <a:xfrm>
            <a:off x="2649190" y="2224086"/>
            <a:ext cx="1141180" cy="609600"/>
          </a:xfrm>
          <a:prstGeom prst="snip1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11" name="Rectangle: Single Corner Snipped 10">
            <a:extLst>
              <a:ext uri="{FF2B5EF4-FFF2-40B4-BE49-F238E27FC236}">
                <a16:creationId xmlns:a16="http://schemas.microsoft.com/office/drawing/2014/main" id="{24F3579F-B130-4ED4-81B7-3B8FA701C627}"/>
              </a:ext>
            </a:extLst>
          </p:cNvPr>
          <p:cNvSpPr/>
          <p:nvPr/>
        </p:nvSpPr>
        <p:spPr bwMode="auto">
          <a:xfrm rot="10800000">
            <a:off x="5417064" y="2188305"/>
            <a:ext cx="1046724" cy="578528"/>
          </a:xfrm>
          <a:prstGeom prst="snip1Rect">
            <a:avLst>
              <a:gd name="adj" fmla="val 28389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05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Multiplicative Rule – Tree Diagram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974FCA-19B9-4210-902B-50618CDF6274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24580" name="Content Placeholder 4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75319" y="2057400"/>
            <a:ext cx="7015163" cy="41148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CC3B60-6637-47A6-AF78-D1BE79C5204B}"/>
              </a:ext>
            </a:extLst>
          </p:cNvPr>
          <p:cNvSpPr/>
          <p:nvPr/>
        </p:nvSpPr>
        <p:spPr bwMode="auto">
          <a:xfrm>
            <a:off x="758924" y="5554662"/>
            <a:ext cx="7015162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" name="Rectangle: Single Corner Snipped 2">
            <a:extLst>
              <a:ext uri="{FF2B5EF4-FFF2-40B4-BE49-F238E27FC236}">
                <a16:creationId xmlns:a16="http://schemas.microsoft.com/office/drawing/2014/main" id="{016A0896-C439-4AB1-89E0-D1C16ED05981}"/>
              </a:ext>
            </a:extLst>
          </p:cNvPr>
          <p:cNvSpPr/>
          <p:nvPr/>
        </p:nvSpPr>
        <p:spPr bwMode="auto">
          <a:xfrm>
            <a:off x="1121783" y="3810000"/>
            <a:ext cx="1141180" cy="609600"/>
          </a:xfrm>
          <a:prstGeom prst="snip1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C6DF3F8-0D02-47EB-81BD-656DC6F19B16}"/>
              </a:ext>
            </a:extLst>
          </p:cNvPr>
          <p:cNvSpPr/>
          <p:nvPr/>
        </p:nvSpPr>
        <p:spPr bwMode="auto">
          <a:xfrm rot="10800000">
            <a:off x="3219781" y="3811249"/>
            <a:ext cx="1046724" cy="609600"/>
          </a:xfrm>
          <a:prstGeom prst="snip1Rect">
            <a:avLst>
              <a:gd name="adj" fmla="val 28389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3DACB8D7-2E00-4EDB-91E4-B95FFCE7EFF0}"/>
              </a:ext>
            </a:extLst>
          </p:cNvPr>
          <p:cNvSpPr/>
          <p:nvPr/>
        </p:nvSpPr>
        <p:spPr bwMode="auto">
          <a:xfrm rot="10800000">
            <a:off x="6887419" y="3902985"/>
            <a:ext cx="1046724" cy="578528"/>
          </a:xfrm>
          <a:prstGeom prst="snip1Rect">
            <a:avLst>
              <a:gd name="adj" fmla="val 28389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9" name="Rectangle: Single Corner Snipped 8">
            <a:extLst>
              <a:ext uri="{FF2B5EF4-FFF2-40B4-BE49-F238E27FC236}">
                <a16:creationId xmlns:a16="http://schemas.microsoft.com/office/drawing/2014/main" id="{EFAF0650-39DB-45F5-A409-55F8315E82C2}"/>
              </a:ext>
            </a:extLst>
          </p:cNvPr>
          <p:cNvSpPr/>
          <p:nvPr/>
        </p:nvSpPr>
        <p:spPr bwMode="auto">
          <a:xfrm rot="5400000">
            <a:off x="5185645" y="3668887"/>
            <a:ext cx="578528" cy="1046725"/>
          </a:xfrm>
          <a:prstGeom prst="snip1Rect">
            <a:avLst>
              <a:gd name="adj" fmla="val 28389"/>
            </a:avLst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21625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Multiplicative Rule – Tree Diagram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974FCA-19B9-4210-902B-50618CDF6274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24580" name="Content Placeholder 4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66800" y="2057400"/>
            <a:ext cx="7015163" cy="41148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5CC3B60-6637-47A6-AF78-D1BE79C5204B}"/>
              </a:ext>
            </a:extLst>
          </p:cNvPr>
          <p:cNvSpPr/>
          <p:nvPr/>
        </p:nvSpPr>
        <p:spPr bwMode="auto">
          <a:xfrm>
            <a:off x="1221020" y="5410200"/>
            <a:ext cx="6697662" cy="914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9097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Multiplicative Rule – Tree Diagram</a:t>
            </a: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1974FCA-19B9-4210-902B-50618CDF6274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24580" name="Content Placeholder 4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066800" y="2057400"/>
            <a:ext cx="7015163" cy="4114800"/>
          </a:xfrm>
        </p:spPr>
      </p:pic>
    </p:spTree>
    <p:extLst>
      <p:ext uri="{BB962C8B-B14F-4D97-AF65-F5344CB8AC3E}">
        <p14:creationId xmlns:p14="http://schemas.microsoft.com/office/powerpoint/2010/main" val="11365405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4F4592-C56C-4AB6-9CFE-318B8443ED0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Independence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If A is not dependent on B, then they are </a:t>
            </a:r>
            <a:r>
              <a:rPr lang="en-US" dirty="0">
                <a:solidFill>
                  <a:schemeClr val="tx2"/>
                </a:solidFill>
              </a:rPr>
              <a:t>INDEPENDENT</a:t>
            </a:r>
            <a:r>
              <a:rPr lang="en-US" dirty="0"/>
              <a:t> events, and the following statements are true: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P(A|B)=P(A)	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P(B|A)=P(B)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P(A and B) = P(A) x P(B)</a:t>
            </a:r>
            <a:endParaRPr lang="en-FI" dirty="0"/>
          </a:p>
          <a:p>
            <a:pPr eaLnBrk="1" hangingPunct="1">
              <a:lnSpc>
                <a:spcPct val="90000"/>
              </a:lnSpc>
            </a:pPr>
            <a:r>
              <a:rPr lang="en-FI" dirty="0"/>
              <a:t>Example: Throw a dice and toss a coin:</a:t>
            </a:r>
            <a:br>
              <a:rPr lang="en-FI" dirty="0"/>
            </a:br>
            <a:r>
              <a:rPr lang="en-FI" dirty="0"/>
              <a:t>A = {6}, B={“Tail”}. A and B are clearly independent.</a:t>
            </a:r>
            <a:endParaRPr lang="en-US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			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3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 bldLvl="2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15511E-8ACC-47A2-8616-968F821E0C8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graphicFrame>
        <p:nvGraphicFramePr>
          <p:cNvPr id="134147" name="Group 3"/>
          <p:cNvGraphicFramePr>
            <a:graphicFrameLocks noGrp="1"/>
          </p:cNvGraphicFramePr>
          <p:nvPr/>
        </p:nvGraphicFramePr>
        <p:xfrm>
          <a:off x="1371600" y="2057400"/>
          <a:ext cx="5715000" cy="1463040"/>
        </p:xfrm>
        <a:graphic>
          <a:graphicData uri="http://schemas.openxmlformats.org/drawingml/2006/table">
            <a:tbl>
              <a:tblPr/>
              <a:tblGrid>
                <a:gridCol w="1357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2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25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Non- DUI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4174" name="Text Box 30"/>
          <p:cNvSpPr txBox="1">
            <a:spLocks noChangeArrowheads="1"/>
          </p:cNvSpPr>
          <p:nvPr/>
        </p:nvSpPr>
        <p:spPr bwMode="auto">
          <a:xfrm>
            <a:off x="381000" y="4724400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P(A) = .10	P(A|D) = .35 (70/200)</a:t>
            </a:r>
          </a:p>
        </p:txBody>
      </p:sp>
      <p:sp>
        <p:nvSpPr>
          <p:cNvPr id="134175" name="Text Box 31"/>
          <p:cNvSpPr txBox="1">
            <a:spLocks noChangeArrowheads="1"/>
          </p:cNvSpPr>
          <p:nvPr/>
        </p:nvSpPr>
        <p:spPr bwMode="auto">
          <a:xfrm>
            <a:off x="381000" y="3886200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A: Accident		D:DUI Driver</a:t>
            </a:r>
          </a:p>
        </p:txBody>
      </p:sp>
      <p:sp>
        <p:nvSpPr>
          <p:cNvPr id="134176" name="Text Box 32"/>
          <p:cNvSpPr txBox="1">
            <a:spLocks noChangeArrowheads="1"/>
          </p:cNvSpPr>
          <p:nvPr/>
        </p:nvSpPr>
        <p:spPr bwMode="auto">
          <a:xfrm>
            <a:off x="381000" y="5486400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Therefore A and D are </a:t>
            </a:r>
            <a:r>
              <a:rPr lang="en-US" b="1">
                <a:latin typeface="Times New Roman" pitchFamily="18" charset="0"/>
              </a:rPr>
              <a:t>DEPENDENT </a:t>
            </a:r>
            <a:r>
              <a:rPr lang="en-US">
                <a:latin typeface="Times New Roman" pitchFamily="18" charset="0"/>
              </a:rPr>
              <a:t>events as P(A) &lt; P(A|D)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4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4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4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4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4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74" grpId="0" autoUpdateAnimBg="0"/>
      <p:bldP spid="134175" grpId="0" autoUpdateAnimBg="0"/>
      <p:bldP spid="13417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6ABEB01-30C7-49EF-B2BD-315B2E23AB12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graphicFrame>
        <p:nvGraphicFramePr>
          <p:cNvPr id="135171" name="Group 3"/>
          <p:cNvGraphicFramePr>
            <a:graphicFrameLocks noGrp="1"/>
          </p:cNvGraphicFramePr>
          <p:nvPr/>
        </p:nvGraphicFramePr>
        <p:xfrm>
          <a:off x="1143000" y="2057400"/>
          <a:ext cx="5943600" cy="1463040"/>
        </p:xfrm>
        <a:graphic>
          <a:graphicData uri="http://schemas.openxmlformats.org/drawingml/2006/table">
            <a:tbl>
              <a:tblPr/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6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9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8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 Accident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Domestic Car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Import Car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5198" name="Text Box 30"/>
          <p:cNvSpPr txBox="1">
            <a:spLocks noChangeArrowheads="1"/>
          </p:cNvSpPr>
          <p:nvPr/>
        </p:nvSpPr>
        <p:spPr bwMode="auto">
          <a:xfrm>
            <a:off x="381000" y="3962400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A: Accident		D:Domestic Car</a:t>
            </a:r>
          </a:p>
        </p:txBody>
      </p:sp>
      <p:sp>
        <p:nvSpPr>
          <p:cNvPr id="135199" name="Text Box 31"/>
          <p:cNvSpPr txBox="1">
            <a:spLocks noChangeArrowheads="1"/>
          </p:cNvSpPr>
          <p:nvPr/>
        </p:nvSpPr>
        <p:spPr bwMode="auto">
          <a:xfrm>
            <a:off x="381000" y="4572000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Times New Roman" pitchFamily="18" charset="0"/>
              </a:rPr>
              <a:t>P(A) = .10	P(A|D) = .10 (60/600)</a:t>
            </a:r>
          </a:p>
        </p:txBody>
      </p:sp>
      <p:sp>
        <p:nvSpPr>
          <p:cNvPr id="135200" name="Text Box 32"/>
          <p:cNvSpPr txBox="1">
            <a:spLocks noChangeArrowheads="1"/>
          </p:cNvSpPr>
          <p:nvPr/>
        </p:nvSpPr>
        <p:spPr bwMode="auto">
          <a:xfrm>
            <a:off x="381000" y="5181600"/>
            <a:ext cx="8305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Therefore A and D are </a:t>
            </a:r>
            <a:r>
              <a:rPr lang="en-US" b="1">
                <a:latin typeface="Times New Roman" pitchFamily="18" charset="0"/>
              </a:rPr>
              <a:t>INDEPENDENT</a:t>
            </a:r>
            <a:r>
              <a:rPr lang="en-US">
                <a:latin typeface="Times New Roman" pitchFamily="18" charset="0"/>
              </a:rPr>
              <a:t> events as P(A) = P(A|D)</a:t>
            </a:r>
          </a:p>
        </p:txBody>
      </p:sp>
      <p:sp>
        <p:nvSpPr>
          <p:cNvPr id="135201" name="Text Box 33"/>
          <p:cNvSpPr txBox="1">
            <a:spLocks noChangeArrowheads="1"/>
          </p:cNvSpPr>
          <p:nvPr/>
        </p:nvSpPr>
        <p:spPr bwMode="auto">
          <a:xfrm>
            <a:off x="381000" y="5791200"/>
            <a:ext cx="822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Also P(A and D) = P(A)xP(D) = (.1)(.6) = .06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98" grpId="0" autoUpdateAnimBg="0"/>
      <p:bldP spid="135199" grpId="0" autoUpdateAnimBg="0"/>
      <p:bldP spid="135200" grpId="0" autoUpdateAnimBg="0"/>
      <p:bldP spid="135201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383C26-F65B-44C5-A94D-0669C5180FA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Random Sample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 </a:t>
            </a:r>
            <a:r>
              <a:rPr lang="en-US">
                <a:solidFill>
                  <a:schemeClr val="tx2"/>
                </a:solidFill>
              </a:rPr>
              <a:t>random sample</a:t>
            </a:r>
            <a:r>
              <a:rPr lang="en-US"/>
              <a:t> is where each member of the population has an equally likely chance of being chosen, and each member of the sample is </a:t>
            </a:r>
            <a:r>
              <a:rPr lang="en-US">
                <a:solidFill>
                  <a:schemeClr val="tx2"/>
                </a:solidFill>
              </a:rPr>
              <a:t>INDEPENDENT</a:t>
            </a:r>
            <a:r>
              <a:rPr lang="en-US"/>
              <a:t> of all other sampled data.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90A81F8-F258-4536-A785-E6AB3764D7E2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Tree Diagram method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Alternative Method of showing probability</a:t>
            </a:r>
          </a:p>
          <a:p>
            <a:pPr eaLnBrk="1" hangingPunct="1"/>
            <a:r>
              <a:rPr lang="en-US" sz="2400"/>
              <a:t>Example: Flip Three Coins</a:t>
            </a:r>
          </a:p>
          <a:p>
            <a:pPr eaLnBrk="1" hangingPunct="1"/>
            <a:r>
              <a:rPr lang="en-US" sz="2400"/>
              <a:t>Example: A Circuit has three switches. If at least two of the switches function, the Circuit will succeed. Each switch has a 10% failure rate if all are operating, and a 20% failure rate if one switch has already failed. Find the probability the circuit will succeed.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BAD12A3-27C3-446D-96FC-B5BFC43E70C6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Circuit Problem</a:t>
            </a:r>
          </a:p>
        </p:txBody>
      </p:sp>
      <p:sp>
        <p:nvSpPr>
          <p:cNvPr id="209927" name="Line 7"/>
          <p:cNvSpPr>
            <a:spLocks noChangeShapeType="1"/>
          </p:cNvSpPr>
          <p:nvPr/>
        </p:nvSpPr>
        <p:spPr bwMode="auto">
          <a:xfrm flipH="1">
            <a:off x="2209800" y="1828800"/>
            <a:ext cx="205740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9928" name="Line 8"/>
          <p:cNvSpPr>
            <a:spLocks noChangeShapeType="1"/>
          </p:cNvSpPr>
          <p:nvPr/>
        </p:nvSpPr>
        <p:spPr bwMode="auto">
          <a:xfrm>
            <a:off x="4267200" y="1828800"/>
            <a:ext cx="190500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9929" name="Oval 9"/>
          <p:cNvSpPr>
            <a:spLocks noChangeArrowheads="1"/>
          </p:cNvSpPr>
          <p:nvPr/>
        </p:nvSpPr>
        <p:spPr bwMode="auto">
          <a:xfrm>
            <a:off x="1828800" y="2971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930" name="Oval 10"/>
          <p:cNvSpPr>
            <a:spLocks noChangeArrowheads="1"/>
          </p:cNvSpPr>
          <p:nvPr/>
        </p:nvSpPr>
        <p:spPr bwMode="auto">
          <a:xfrm>
            <a:off x="5867400" y="2971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932" name="Line 12"/>
          <p:cNvSpPr>
            <a:spLocks noChangeShapeType="1"/>
          </p:cNvSpPr>
          <p:nvPr/>
        </p:nvSpPr>
        <p:spPr bwMode="auto">
          <a:xfrm flipH="1">
            <a:off x="1219200" y="3429000"/>
            <a:ext cx="6858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9933" name="Line 13"/>
          <p:cNvSpPr>
            <a:spLocks noChangeShapeType="1"/>
          </p:cNvSpPr>
          <p:nvPr/>
        </p:nvSpPr>
        <p:spPr bwMode="auto">
          <a:xfrm>
            <a:off x="2362200" y="3429000"/>
            <a:ext cx="6096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9934" name="Line 14"/>
          <p:cNvSpPr>
            <a:spLocks noChangeShapeType="1"/>
          </p:cNvSpPr>
          <p:nvPr/>
        </p:nvSpPr>
        <p:spPr bwMode="auto">
          <a:xfrm flipH="1">
            <a:off x="5105400" y="34290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9935" name="Line 15"/>
          <p:cNvSpPr>
            <a:spLocks noChangeShapeType="1"/>
          </p:cNvSpPr>
          <p:nvPr/>
        </p:nvSpPr>
        <p:spPr bwMode="auto">
          <a:xfrm>
            <a:off x="6400800" y="3429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9936" name="Oval 16"/>
          <p:cNvSpPr>
            <a:spLocks noChangeArrowheads="1"/>
          </p:cNvSpPr>
          <p:nvPr/>
        </p:nvSpPr>
        <p:spPr bwMode="auto">
          <a:xfrm>
            <a:off x="838200" y="43434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937" name="Oval 17"/>
          <p:cNvSpPr>
            <a:spLocks noChangeArrowheads="1"/>
          </p:cNvSpPr>
          <p:nvPr/>
        </p:nvSpPr>
        <p:spPr bwMode="auto">
          <a:xfrm>
            <a:off x="2819400" y="41910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938" name="Oval 18"/>
          <p:cNvSpPr>
            <a:spLocks noChangeArrowheads="1"/>
          </p:cNvSpPr>
          <p:nvPr/>
        </p:nvSpPr>
        <p:spPr bwMode="auto">
          <a:xfrm>
            <a:off x="4572000" y="4114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939" name="Oval 19"/>
          <p:cNvSpPr>
            <a:spLocks noChangeArrowheads="1"/>
          </p:cNvSpPr>
          <p:nvPr/>
        </p:nvSpPr>
        <p:spPr bwMode="auto">
          <a:xfrm>
            <a:off x="6705600" y="41910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940" name="Line 20"/>
          <p:cNvSpPr>
            <a:spLocks noChangeShapeType="1"/>
          </p:cNvSpPr>
          <p:nvPr/>
        </p:nvSpPr>
        <p:spPr bwMode="auto">
          <a:xfrm flipH="1">
            <a:off x="2209800" y="4648200"/>
            <a:ext cx="6858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9941" name="Line 21"/>
          <p:cNvSpPr>
            <a:spLocks noChangeShapeType="1"/>
          </p:cNvSpPr>
          <p:nvPr/>
        </p:nvSpPr>
        <p:spPr bwMode="auto">
          <a:xfrm>
            <a:off x="3124200" y="4724400"/>
            <a:ext cx="3810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9944" name="Line 24"/>
          <p:cNvSpPr>
            <a:spLocks noChangeShapeType="1"/>
          </p:cNvSpPr>
          <p:nvPr/>
        </p:nvSpPr>
        <p:spPr bwMode="auto">
          <a:xfrm>
            <a:off x="5105400" y="4572000"/>
            <a:ext cx="7620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9946" name="Line 26"/>
          <p:cNvSpPr>
            <a:spLocks noChangeShapeType="1"/>
          </p:cNvSpPr>
          <p:nvPr/>
        </p:nvSpPr>
        <p:spPr bwMode="auto">
          <a:xfrm flipH="1">
            <a:off x="4419600" y="4572000"/>
            <a:ext cx="2286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9947" name="Oval 27"/>
          <p:cNvSpPr>
            <a:spLocks noChangeArrowheads="1"/>
          </p:cNvSpPr>
          <p:nvPr/>
        </p:nvSpPr>
        <p:spPr bwMode="auto">
          <a:xfrm>
            <a:off x="1676400" y="5257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948" name="Oval 28"/>
          <p:cNvSpPr>
            <a:spLocks noChangeArrowheads="1"/>
          </p:cNvSpPr>
          <p:nvPr/>
        </p:nvSpPr>
        <p:spPr bwMode="auto">
          <a:xfrm>
            <a:off x="3124200" y="54102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949" name="Oval 29"/>
          <p:cNvSpPr>
            <a:spLocks noChangeArrowheads="1"/>
          </p:cNvSpPr>
          <p:nvPr/>
        </p:nvSpPr>
        <p:spPr bwMode="auto">
          <a:xfrm>
            <a:off x="4038600" y="54102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950" name="Oval 30"/>
          <p:cNvSpPr>
            <a:spLocks noChangeArrowheads="1"/>
          </p:cNvSpPr>
          <p:nvPr/>
        </p:nvSpPr>
        <p:spPr bwMode="auto">
          <a:xfrm>
            <a:off x="5715000" y="53340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9952" name="Text Box 32"/>
          <p:cNvSpPr txBox="1">
            <a:spLocks noChangeArrowheads="1"/>
          </p:cNvSpPr>
          <p:nvPr/>
        </p:nvSpPr>
        <p:spPr bwMode="auto">
          <a:xfrm>
            <a:off x="1965325" y="3005138"/>
            <a:ext cx="36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09953" name="Text Box 33"/>
          <p:cNvSpPr txBox="1">
            <a:spLocks noChangeArrowheads="1"/>
          </p:cNvSpPr>
          <p:nvPr/>
        </p:nvSpPr>
        <p:spPr bwMode="auto">
          <a:xfrm>
            <a:off x="5927725" y="2928938"/>
            <a:ext cx="43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A’</a:t>
            </a:r>
          </a:p>
        </p:txBody>
      </p:sp>
      <p:sp>
        <p:nvSpPr>
          <p:cNvPr id="209954" name="Text Box 34"/>
          <p:cNvSpPr txBox="1">
            <a:spLocks noChangeArrowheads="1"/>
          </p:cNvSpPr>
          <p:nvPr/>
        </p:nvSpPr>
        <p:spPr bwMode="auto">
          <a:xfrm>
            <a:off x="898525" y="4376738"/>
            <a:ext cx="363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209955" name="Text Box 35"/>
          <p:cNvSpPr txBox="1">
            <a:spLocks noChangeArrowheads="1"/>
          </p:cNvSpPr>
          <p:nvPr/>
        </p:nvSpPr>
        <p:spPr bwMode="auto">
          <a:xfrm>
            <a:off x="2895600" y="4267200"/>
            <a:ext cx="428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B’</a:t>
            </a:r>
          </a:p>
        </p:txBody>
      </p:sp>
      <p:sp>
        <p:nvSpPr>
          <p:cNvPr id="209956" name="Text Box 36"/>
          <p:cNvSpPr txBox="1">
            <a:spLocks noChangeArrowheads="1"/>
          </p:cNvSpPr>
          <p:nvPr/>
        </p:nvSpPr>
        <p:spPr bwMode="auto">
          <a:xfrm>
            <a:off x="4632325" y="4148138"/>
            <a:ext cx="363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209957" name="Text Box 37"/>
          <p:cNvSpPr txBox="1">
            <a:spLocks noChangeArrowheads="1"/>
          </p:cNvSpPr>
          <p:nvPr/>
        </p:nvSpPr>
        <p:spPr bwMode="auto">
          <a:xfrm>
            <a:off x="6765925" y="4224338"/>
            <a:ext cx="428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B’</a:t>
            </a:r>
          </a:p>
        </p:txBody>
      </p:sp>
      <p:sp>
        <p:nvSpPr>
          <p:cNvPr id="209958" name="Text Box 38"/>
          <p:cNvSpPr txBox="1">
            <a:spLocks noChangeArrowheads="1"/>
          </p:cNvSpPr>
          <p:nvPr/>
        </p:nvSpPr>
        <p:spPr bwMode="auto">
          <a:xfrm>
            <a:off x="1812925" y="5291138"/>
            <a:ext cx="36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209959" name="Text Box 39"/>
          <p:cNvSpPr txBox="1">
            <a:spLocks noChangeArrowheads="1"/>
          </p:cNvSpPr>
          <p:nvPr/>
        </p:nvSpPr>
        <p:spPr bwMode="auto">
          <a:xfrm>
            <a:off x="3184525" y="5443538"/>
            <a:ext cx="43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C’</a:t>
            </a:r>
          </a:p>
        </p:txBody>
      </p:sp>
      <p:sp>
        <p:nvSpPr>
          <p:cNvPr id="209960" name="Text Box 40"/>
          <p:cNvSpPr txBox="1">
            <a:spLocks noChangeArrowheads="1"/>
          </p:cNvSpPr>
          <p:nvPr/>
        </p:nvSpPr>
        <p:spPr bwMode="auto">
          <a:xfrm>
            <a:off x="4175125" y="5443538"/>
            <a:ext cx="36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</a:t>
            </a:r>
          </a:p>
        </p:txBody>
      </p:sp>
      <p:sp>
        <p:nvSpPr>
          <p:cNvPr id="209961" name="Text Box 41"/>
          <p:cNvSpPr txBox="1">
            <a:spLocks noChangeArrowheads="1"/>
          </p:cNvSpPr>
          <p:nvPr/>
        </p:nvSpPr>
        <p:spPr bwMode="auto">
          <a:xfrm>
            <a:off x="5851525" y="5367338"/>
            <a:ext cx="43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C’</a:t>
            </a:r>
          </a:p>
        </p:txBody>
      </p:sp>
      <p:sp>
        <p:nvSpPr>
          <p:cNvPr id="209962" name="Text Box 42"/>
          <p:cNvSpPr txBox="1">
            <a:spLocks noChangeArrowheads="1"/>
          </p:cNvSpPr>
          <p:nvPr/>
        </p:nvSpPr>
        <p:spPr bwMode="auto">
          <a:xfrm>
            <a:off x="2803525" y="2189163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.9</a:t>
            </a:r>
          </a:p>
        </p:txBody>
      </p:sp>
      <p:sp>
        <p:nvSpPr>
          <p:cNvPr id="209963" name="Text Box 43"/>
          <p:cNvSpPr txBox="1">
            <a:spLocks noChangeArrowheads="1"/>
          </p:cNvSpPr>
          <p:nvPr/>
        </p:nvSpPr>
        <p:spPr bwMode="auto">
          <a:xfrm>
            <a:off x="1127125" y="3560763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.9</a:t>
            </a:r>
          </a:p>
        </p:txBody>
      </p:sp>
      <p:sp>
        <p:nvSpPr>
          <p:cNvPr id="209964" name="Text Box 44"/>
          <p:cNvSpPr txBox="1">
            <a:spLocks noChangeArrowheads="1"/>
          </p:cNvSpPr>
          <p:nvPr/>
        </p:nvSpPr>
        <p:spPr bwMode="auto">
          <a:xfrm>
            <a:off x="5410200" y="2209800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.1</a:t>
            </a:r>
          </a:p>
        </p:txBody>
      </p:sp>
      <p:sp>
        <p:nvSpPr>
          <p:cNvPr id="209965" name="Text Box 45"/>
          <p:cNvSpPr txBox="1">
            <a:spLocks noChangeArrowheads="1"/>
          </p:cNvSpPr>
          <p:nvPr/>
        </p:nvSpPr>
        <p:spPr bwMode="auto">
          <a:xfrm>
            <a:off x="2574925" y="3484563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.1</a:t>
            </a:r>
          </a:p>
        </p:txBody>
      </p:sp>
      <p:sp>
        <p:nvSpPr>
          <p:cNvPr id="209966" name="Text Box 46"/>
          <p:cNvSpPr txBox="1">
            <a:spLocks noChangeArrowheads="1"/>
          </p:cNvSpPr>
          <p:nvPr/>
        </p:nvSpPr>
        <p:spPr bwMode="auto">
          <a:xfrm>
            <a:off x="2193925" y="4703763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.8</a:t>
            </a:r>
          </a:p>
        </p:txBody>
      </p:sp>
      <p:sp>
        <p:nvSpPr>
          <p:cNvPr id="209967" name="Text Box 47"/>
          <p:cNvSpPr txBox="1">
            <a:spLocks noChangeArrowheads="1"/>
          </p:cNvSpPr>
          <p:nvPr/>
        </p:nvSpPr>
        <p:spPr bwMode="auto">
          <a:xfrm>
            <a:off x="3260725" y="4779963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.2</a:t>
            </a:r>
          </a:p>
        </p:txBody>
      </p:sp>
      <p:sp>
        <p:nvSpPr>
          <p:cNvPr id="209968" name="Text Box 48"/>
          <p:cNvSpPr txBox="1">
            <a:spLocks noChangeArrowheads="1"/>
          </p:cNvSpPr>
          <p:nvPr/>
        </p:nvSpPr>
        <p:spPr bwMode="auto">
          <a:xfrm>
            <a:off x="4175125" y="4703763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.8</a:t>
            </a:r>
          </a:p>
        </p:txBody>
      </p:sp>
      <p:sp>
        <p:nvSpPr>
          <p:cNvPr id="209969" name="Text Box 49"/>
          <p:cNvSpPr txBox="1">
            <a:spLocks noChangeArrowheads="1"/>
          </p:cNvSpPr>
          <p:nvPr/>
        </p:nvSpPr>
        <p:spPr bwMode="auto">
          <a:xfrm>
            <a:off x="5410200" y="4572000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.2</a:t>
            </a:r>
          </a:p>
        </p:txBody>
      </p:sp>
      <p:sp>
        <p:nvSpPr>
          <p:cNvPr id="209970" name="Text Box 50"/>
          <p:cNvSpPr txBox="1">
            <a:spLocks noChangeArrowheads="1"/>
          </p:cNvSpPr>
          <p:nvPr/>
        </p:nvSpPr>
        <p:spPr bwMode="auto">
          <a:xfrm>
            <a:off x="5241925" y="3484563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.8</a:t>
            </a:r>
          </a:p>
        </p:txBody>
      </p:sp>
      <p:sp>
        <p:nvSpPr>
          <p:cNvPr id="209971" name="Text Box 51"/>
          <p:cNvSpPr txBox="1">
            <a:spLocks noChangeArrowheads="1"/>
          </p:cNvSpPr>
          <p:nvPr/>
        </p:nvSpPr>
        <p:spPr bwMode="auto">
          <a:xfrm>
            <a:off x="6629400" y="3527425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.2</a:t>
            </a:r>
          </a:p>
        </p:txBody>
      </p:sp>
      <p:sp>
        <p:nvSpPr>
          <p:cNvPr id="209972" name="Text Box 52"/>
          <p:cNvSpPr txBox="1">
            <a:spLocks noChangeArrowheads="1"/>
          </p:cNvSpPr>
          <p:nvPr/>
        </p:nvSpPr>
        <p:spPr bwMode="auto">
          <a:xfrm>
            <a:off x="838200" y="4876800"/>
            <a:ext cx="619125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.81</a:t>
            </a:r>
          </a:p>
        </p:txBody>
      </p:sp>
      <p:sp>
        <p:nvSpPr>
          <p:cNvPr id="209974" name="Text Box 54"/>
          <p:cNvSpPr txBox="1">
            <a:spLocks noChangeArrowheads="1"/>
          </p:cNvSpPr>
          <p:nvPr/>
        </p:nvSpPr>
        <p:spPr bwMode="auto">
          <a:xfrm>
            <a:off x="1524000" y="5791200"/>
            <a:ext cx="785813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.072</a:t>
            </a:r>
          </a:p>
        </p:txBody>
      </p:sp>
      <p:sp>
        <p:nvSpPr>
          <p:cNvPr id="209975" name="Text Box 55"/>
          <p:cNvSpPr txBox="1">
            <a:spLocks noChangeArrowheads="1"/>
          </p:cNvSpPr>
          <p:nvPr/>
        </p:nvSpPr>
        <p:spPr bwMode="auto">
          <a:xfrm>
            <a:off x="2971800" y="5943600"/>
            <a:ext cx="776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.018</a:t>
            </a:r>
          </a:p>
        </p:txBody>
      </p:sp>
      <p:sp>
        <p:nvSpPr>
          <p:cNvPr id="209976" name="Text Box 56"/>
          <p:cNvSpPr txBox="1">
            <a:spLocks noChangeArrowheads="1"/>
          </p:cNvSpPr>
          <p:nvPr/>
        </p:nvSpPr>
        <p:spPr bwMode="auto">
          <a:xfrm>
            <a:off x="3962400" y="5943600"/>
            <a:ext cx="785813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.064</a:t>
            </a:r>
          </a:p>
        </p:txBody>
      </p:sp>
      <p:sp>
        <p:nvSpPr>
          <p:cNvPr id="209977" name="Text Box 57"/>
          <p:cNvSpPr txBox="1">
            <a:spLocks noChangeArrowheads="1"/>
          </p:cNvSpPr>
          <p:nvPr/>
        </p:nvSpPr>
        <p:spPr bwMode="auto">
          <a:xfrm>
            <a:off x="5638800" y="5867400"/>
            <a:ext cx="776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.016</a:t>
            </a:r>
          </a:p>
        </p:txBody>
      </p:sp>
      <p:sp>
        <p:nvSpPr>
          <p:cNvPr id="209978" name="Text Box 58"/>
          <p:cNvSpPr txBox="1">
            <a:spLocks noChangeArrowheads="1"/>
          </p:cNvSpPr>
          <p:nvPr/>
        </p:nvSpPr>
        <p:spPr bwMode="auto">
          <a:xfrm>
            <a:off x="6781800" y="4724400"/>
            <a:ext cx="609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.02</a:t>
            </a:r>
          </a:p>
        </p:txBody>
      </p:sp>
      <p:sp>
        <p:nvSpPr>
          <p:cNvPr id="209979" name="Text Box 59"/>
          <p:cNvSpPr txBox="1">
            <a:spLocks noChangeArrowheads="1"/>
          </p:cNvSpPr>
          <p:nvPr/>
        </p:nvSpPr>
        <p:spPr bwMode="auto">
          <a:xfrm>
            <a:off x="6248400" y="1981200"/>
            <a:ext cx="2560638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      </a:t>
            </a:r>
            <a:r>
              <a:rPr lang="en-US" sz="2000"/>
              <a:t>Pr(Good)=</a:t>
            </a:r>
          </a:p>
          <a:p>
            <a:r>
              <a:rPr lang="en-US" sz="2000"/>
              <a:t>.81+.072+.064=.946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27" grpId="0" animBg="1"/>
      <p:bldP spid="209928" grpId="0" animBg="1"/>
      <p:bldP spid="209929" grpId="0" animBg="1"/>
      <p:bldP spid="209930" grpId="0" animBg="1"/>
      <p:bldP spid="209932" grpId="0" animBg="1"/>
      <p:bldP spid="209933" grpId="0" animBg="1"/>
      <p:bldP spid="209934" grpId="0" animBg="1"/>
      <p:bldP spid="209935" grpId="0" animBg="1"/>
      <p:bldP spid="209936" grpId="0" animBg="1"/>
      <p:bldP spid="209937" grpId="0" animBg="1"/>
      <p:bldP spid="209938" grpId="0" animBg="1"/>
      <p:bldP spid="209939" grpId="0" animBg="1"/>
      <p:bldP spid="209940" grpId="0" animBg="1"/>
      <p:bldP spid="209941" grpId="0" animBg="1"/>
      <p:bldP spid="209944" grpId="0" animBg="1"/>
      <p:bldP spid="209946" grpId="0" animBg="1"/>
      <p:bldP spid="209947" grpId="0" animBg="1"/>
      <p:bldP spid="209948" grpId="0" animBg="1"/>
      <p:bldP spid="209949" grpId="0" animBg="1"/>
      <p:bldP spid="209950" grpId="0" animBg="1"/>
      <p:bldP spid="209952" grpId="0"/>
      <p:bldP spid="209953" grpId="0"/>
      <p:bldP spid="209954" grpId="0"/>
      <p:bldP spid="209955" grpId="0"/>
      <p:bldP spid="209956" grpId="0"/>
      <p:bldP spid="209957" grpId="0"/>
      <p:bldP spid="209958" grpId="0"/>
      <p:bldP spid="209959" grpId="0"/>
      <p:bldP spid="209960" grpId="0"/>
      <p:bldP spid="209961" grpId="0"/>
      <p:bldP spid="209962" grpId="0"/>
      <p:bldP spid="209963" grpId="0"/>
      <p:bldP spid="209964" grpId="0"/>
      <p:bldP spid="209965" grpId="0"/>
      <p:bldP spid="209966" grpId="0"/>
      <p:bldP spid="209967" grpId="0"/>
      <p:bldP spid="209968" grpId="0"/>
      <p:bldP spid="209969" grpId="0"/>
      <p:bldP spid="209970" grpId="0"/>
      <p:bldP spid="209971" grpId="0"/>
      <p:bldP spid="209972" grpId="0" animBg="1"/>
      <p:bldP spid="209974" grpId="0" animBg="1"/>
      <p:bldP spid="209975" grpId="0"/>
      <p:bldP spid="209976" grpId="0" animBg="1"/>
      <p:bldP spid="209977" grpId="0"/>
      <p:bldP spid="209978" grpId="0"/>
      <p:bldP spid="20997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569B42-B2A5-42B4-BC06-5CD191860CF4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Switching the Conditionality</a:t>
            </a:r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Often there are questions where you desire to change the conditionality from one variable to the other variable</a:t>
            </a:r>
          </a:p>
          <a:p>
            <a:pPr eaLnBrk="1" hangingPunct="1"/>
            <a:r>
              <a:rPr lang="en-US" sz="2800"/>
              <a:t>First construct a tree diagram.</a:t>
            </a:r>
          </a:p>
          <a:p>
            <a:pPr eaLnBrk="1" hangingPunct="1"/>
            <a:r>
              <a:rPr lang="en-US" sz="2800"/>
              <a:t>Second, create a Contingency Table using a convenient radix (sample size)</a:t>
            </a:r>
          </a:p>
          <a:p>
            <a:pPr eaLnBrk="1" hangingPunct="1"/>
            <a:r>
              <a:rPr lang="en-US" sz="2800"/>
              <a:t>From the Contingency table it is easy to calculate all conditional probabilities.</a:t>
            </a:r>
          </a:p>
          <a:p>
            <a:pPr eaLnBrk="1" hangingPunct="1">
              <a:buFont typeface="Wingdings" pitchFamily="2" charset="2"/>
              <a:buNone/>
            </a:pPr>
            <a:endParaRPr lang="en-US" sz="2800"/>
          </a:p>
          <a:p>
            <a:pPr eaLnBrk="1" hangingPunct="1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731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0FEFB2F-25DD-49A9-804D-C111D8B692FA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10% of prisoners in a Canadian prison are HIV positive. </a:t>
            </a:r>
          </a:p>
          <a:p>
            <a:pPr eaLnBrk="1" hangingPunct="1"/>
            <a:r>
              <a:rPr lang="en-US" sz="2800" dirty="0"/>
              <a:t>A test will correctly detect HIV 95% of the time, but will incorrectly “detect” HIV in non-infected prisoners 15% of the time (false positive). </a:t>
            </a:r>
          </a:p>
          <a:p>
            <a:pPr eaLnBrk="1" hangingPunct="1"/>
            <a:r>
              <a:rPr lang="en-US" sz="2800" dirty="0"/>
              <a:t>If a randomly selected prisoner tests positive, find the probability the prisoner is HIV+</a:t>
            </a:r>
          </a:p>
          <a:p>
            <a:pPr eaLnBrk="1" hangingPunct="1"/>
            <a:endParaRPr lang="en-US" sz="2800" dirty="0"/>
          </a:p>
          <a:p>
            <a:pPr eaLnBrk="1" hangingPunct="1">
              <a:buFont typeface="Wingdings" pitchFamily="2" charset="2"/>
              <a:buNone/>
            </a:pP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2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2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2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5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62A3CD3-0CC9-48A7-9F55-3EF1AC6541C8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sp>
        <p:nvSpPr>
          <p:cNvPr id="231475" name="Rectangle 51"/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5562600"/>
            <a:ext cx="7046912" cy="99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A=Prisoner is HIV+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/>
              <a:t>B=Test is Positive for HIV</a:t>
            </a:r>
          </a:p>
        </p:txBody>
      </p:sp>
      <p:sp>
        <p:nvSpPr>
          <p:cNvPr id="231427" name="Line 3"/>
          <p:cNvSpPr>
            <a:spLocks noChangeShapeType="1"/>
          </p:cNvSpPr>
          <p:nvPr/>
        </p:nvSpPr>
        <p:spPr bwMode="auto">
          <a:xfrm flipH="1">
            <a:off x="2209800" y="1828800"/>
            <a:ext cx="205740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1428" name="Line 4"/>
          <p:cNvSpPr>
            <a:spLocks noChangeShapeType="1"/>
          </p:cNvSpPr>
          <p:nvPr/>
        </p:nvSpPr>
        <p:spPr bwMode="auto">
          <a:xfrm>
            <a:off x="4267200" y="1828800"/>
            <a:ext cx="190500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1429" name="Oval 5"/>
          <p:cNvSpPr>
            <a:spLocks noChangeArrowheads="1"/>
          </p:cNvSpPr>
          <p:nvPr/>
        </p:nvSpPr>
        <p:spPr bwMode="auto">
          <a:xfrm>
            <a:off x="1828800" y="2971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1430" name="Oval 6"/>
          <p:cNvSpPr>
            <a:spLocks noChangeArrowheads="1"/>
          </p:cNvSpPr>
          <p:nvPr/>
        </p:nvSpPr>
        <p:spPr bwMode="auto">
          <a:xfrm>
            <a:off x="5867400" y="2971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1431" name="Line 7"/>
          <p:cNvSpPr>
            <a:spLocks noChangeShapeType="1"/>
          </p:cNvSpPr>
          <p:nvPr/>
        </p:nvSpPr>
        <p:spPr bwMode="auto">
          <a:xfrm flipH="1">
            <a:off x="1219200" y="3429000"/>
            <a:ext cx="6858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1432" name="Line 8"/>
          <p:cNvSpPr>
            <a:spLocks noChangeShapeType="1"/>
          </p:cNvSpPr>
          <p:nvPr/>
        </p:nvSpPr>
        <p:spPr bwMode="auto">
          <a:xfrm>
            <a:off x="2362200" y="3429000"/>
            <a:ext cx="6096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1433" name="Line 9"/>
          <p:cNvSpPr>
            <a:spLocks noChangeShapeType="1"/>
          </p:cNvSpPr>
          <p:nvPr/>
        </p:nvSpPr>
        <p:spPr bwMode="auto">
          <a:xfrm flipH="1">
            <a:off x="5105400" y="34290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1434" name="Line 10"/>
          <p:cNvSpPr>
            <a:spLocks noChangeShapeType="1"/>
          </p:cNvSpPr>
          <p:nvPr/>
        </p:nvSpPr>
        <p:spPr bwMode="auto">
          <a:xfrm>
            <a:off x="6400800" y="34290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31435" name="Oval 11"/>
          <p:cNvSpPr>
            <a:spLocks noChangeArrowheads="1"/>
          </p:cNvSpPr>
          <p:nvPr/>
        </p:nvSpPr>
        <p:spPr bwMode="auto">
          <a:xfrm>
            <a:off x="838200" y="43434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1436" name="Oval 12"/>
          <p:cNvSpPr>
            <a:spLocks noChangeArrowheads="1"/>
          </p:cNvSpPr>
          <p:nvPr/>
        </p:nvSpPr>
        <p:spPr bwMode="auto">
          <a:xfrm>
            <a:off x="2819400" y="41910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1437" name="Oval 13"/>
          <p:cNvSpPr>
            <a:spLocks noChangeArrowheads="1"/>
          </p:cNvSpPr>
          <p:nvPr/>
        </p:nvSpPr>
        <p:spPr bwMode="auto">
          <a:xfrm>
            <a:off x="4572000" y="4114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1438" name="Oval 14"/>
          <p:cNvSpPr>
            <a:spLocks noChangeArrowheads="1"/>
          </p:cNvSpPr>
          <p:nvPr/>
        </p:nvSpPr>
        <p:spPr bwMode="auto">
          <a:xfrm>
            <a:off x="6705600" y="41910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1447" name="Text Box 23"/>
          <p:cNvSpPr txBox="1">
            <a:spLocks noChangeArrowheads="1"/>
          </p:cNvSpPr>
          <p:nvPr/>
        </p:nvSpPr>
        <p:spPr bwMode="auto">
          <a:xfrm>
            <a:off x="1965325" y="3005138"/>
            <a:ext cx="366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231448" name="Text Box 24"/>
          <p:cNvSpPr txBox="1">
            <a:spLocks noChangeArrowheads="1"/>
          </p:cNvSpPr>
          <p:nvPr/>
        </p:nvSpPr>
        <p:spPr bwMode="auto">
          <a:xfrm>
            <a:off x="5927725" y="2928938"/>
            <a:ext cx="43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A’</a:t>
            </a:r>
          </a:p>
        </p:txBody>
      </p:sp>
      <p:sp>
        <p:nvSpPr>
          <p:cNvPr id="231449" name="Text Box 25"/>
          <p:cNvSpPr txBox="1">
            <a:spLocks noChangeArrowheads="1"/>
          </p:cNvSpPr>
          <p:nvPr/>
        </p:nvSpPr>
        <p:spPr bwMode="auto">
          <a:xfrm>
            <a:off x="898525" y="4376738"/>
            <a:ext cx="363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231450" name="Text Box 26"/>
          <p:cNvSpPr txBox="1">
            <a:spLocks noChangeArrowheads="1"/>
          </p:cNvSpPr>
          <p:nvPr/>
        </p:nvSpPr>
        <p:spPr bwMode="auto">
          <a:xfrm>
            <a:off x="2895600" y="4267200"/>
            <a:ext cx="428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B’</a:t>
            </a:r>
          </a:p>
        </p:txBody>
      </p:sp>
      <p:sp>
        <p:nvSpPr>
          <p:cNvPr id="231451" name="Text Box 27"/>
          <p:cNvSpPr txBox="1">
            <a:spLocks noChangeArrowheads="1"/>
          </p:cNvSpPr>
          <p:nvPr/>
        </p:nvSpPr>
        <p:spPr bwMode="auto">
          <a:xfrm>
            <a:off x="4632325" y="4148138"/>
            <a:ext cx="3635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231452" name="Text Box 28"/>
          <p:cNvSpPr txBox="1">
            <a:spLocks noChangeArrowheads="1"/>
          </p:cNvSpPr>
          <p:nvPr/>
        </p:nvSpPr>
        <p:spPr bwMode="auto">
          <a:xfrm>
            <a:off x="6765925" y="4224338"/>
            <a:ext cx="428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B’</a:t>
            </a:r>
          </a:p>
        </p:txBody>
      </p:sp>
      <p:sp>
        <p:nvSpPr>
          <p:cNvPr id="231457" name="Text Box 33"/>
          <p:cNvSpPr txBox="1">
            <a:spLocks noChangeArrowheads="1"/>
          </p:cNvSpPr>
          <p:nvPr/>
        </p:nvSpPr>
        <p:spPr bwMode="auto">
          <a:xfrm>
            <a:off x="2803525" y="2189163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.1</a:t>
            </a:r>
          </a:p>
        </p:txBody>
      </p:sp>
      <p:sp>
        <p:nvSpPr>
          <p:cNvPr id="231458" name="Text Box 34"/>
          <p:cNvSpPr txBox="1">
            <a:spLocks noChangeArrowheads="1"/>
          </p:cNvSpPr>
          <p:nvPr/>
        </p:nvSpPr>
        <p:spPr bwMode="auto">
          <a:xfrm>
            <a:off x="1127125" y="3560763"/>
            <a:ext cx="468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.95</a:t>
            </a:r>
          </a:p>
        </p:txBody>
      </p:sp>
      <p:sp>
        <p:nvSpPr>
          <p:cNvPr id="231459" name="Text Box 35"/>
          <p:cNvSpPr txBox="1">
            <a:spLocks noChangeArrowheads="1"/>
          </p:cNvSpPr>
          <p:nvPr/>
        </p:nvSpPr>
        <p:spPr bwMode="auto">
          <a:xfrm>
            <a:off x="5410200" y="2209800"/>
            <a:ext cx="3571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.9</a:t>
            </a:r>
          </a:p>
        </p:txBody>
      </p:sp>
      <p:sp>
        <p:nvSpPr>
          <p:cNvPr id="231460" name="Text Box 36"/>
          <p:cNvSpPr txBox="1">
            <a:spLocks noChangeArrowheads="1"/>
          </p:cNvSpPr>
          <p:nvPr/>
        </p:nvSpPr>
        <p:spPr bwMode="auto">
          <a:xfrm>
            <a:off x="2574925" y="3484563"/>
            <a:ext cx="468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.05</a:t>
            </a:r>
          </a:p>
        </p:txBody>
      </p:sp>
      <p:sp>
        <p:nvSpPr>
          <p:cNvPr id="231465" name="Text Box 41"/>
          <p:cNvSpPr txBox="1">
            <a:spLocks noChangeArrowheads="1"/>
          </p:cNvSpPr>
          <p:nvPr/>
        </p:nvSpPr>
        <p:spPr bwMode="auto">
          <a:xfrm>
            <a:off x="5241925" y="3484563"/>
            <a:ext cx="468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.15</a:t>
            </a:r>
          </a:p>
        </p:txBody>
      </p:sp>
      <p:sp>
        <p:nvSpPr>
          <p:cNvPr id="231466" name="Text Box 42"/>
          <p:cNvSpPr txBox="1">
            <a:spLocks noChangeArrowheads="1"/>
          </p:cNvSpPr>
          <p:nvPr/>
        </p:nvSpPr>
        <p:spPr bwMode="auto">
          <a:xfrm>
            <a:off x="6629400" y="3527425"/>
            <a:ext cx="468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600"/>
              <a:t>.85</a:t>
            </a:r>
          </a:p>
        </p:txBody>
      </p:sp>
      <p:sp>
        <p:nvSpPr>
          <p:cNvPr id="231467" name="Text Box 43"/>
          <p:cNvSpPr txBox="1">
            <a:spLocks noChangeArrowheads="1"/>
          </p:cNvSpPr>
          <p:nvPr/>
        </p:nvSpPr>
        <p:spPr bwMode="auto">
          <a:xfrm>
            <a:off x="838200" y="4876800"/>
            <a:ext cx="785813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.095</a:t>
            </a:r>
          </a:p>
        </p:txBody>
      </p:sp>
      <p:sp>
        <p:nvSpPr>
          <p:cNvPr id="231468" name="Text Box 44"/>
          <p:cNvSpPr txBox="1">
            <a:spLocks noChangeArrowheads="1"/>
          </p:cNvSpPr>
          <p:nvPr/>
        </p:nvSpPr>
        <p:spPr bwMode="auto">
          <a:xfrm>
            <a:off x="2667000" y="4800600"/>
            <a:ext cx="785813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.005</a:t>
            </a:r>
          </a:p>
        </p:txBody>
      </p:sp>
      <p:sp>
        <p:nvSpPr>
          <p:cNvPr id="231470" name="Text Box 46"/>
          <p:cNvSpPr txBox="1">
            <a:spLocks noChangeArrowheads="1"/>
          </p:cNvSpPr>
          <p:nvPr/>
        </p:nvSpPr>
        <p:spPr bwMode="auto">
          <a:xfrm>
            <a:off x="4572000" y="4800600"/>
            <a:ext cx="785813" cy="466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.135</a:t>
            </a:r>
          </a:p>
        </p:txBody>
      </p:sp>
      <p:sp>
        <p:nvSpPr>
          <p:cNvPr id="231472" name="Text Box 48"/>
          <p:cNvSpPr txBox="1">
            <a:spLocks noChangeArrowheads="1"/>
          </p:cNvSpPr>
          <p:nvPr/>
        </p:nvSpPr>
        <p:spPr bwMode="auto">
          <a:xfrm>
            <a:off x="6781800" y="4800600"/>
            <a:ext cx="7762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.765</a:t>
            </a:r>
          </a:p>
        </p:txBody>
      </p:sp>
      <p:sp>
        <p:nvSpPr>
          <p:cNvPr id="231474" name="Rectangle 50"/>
          <p:cNvSpPr>
            <a:spLocks noChangeArrowheads="1"/>
          </p:cNvSpPr>
          <p:nvPr/>
        </p:nvSpPr>
        <p:spPr bwMode="auto">
          <a:xfrm>
            <a:off x="6781800" y="4800600"/>
            <a:ext cx="762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75" grpId="0" build="p"/>
      <p:bldP spid="231427" grpId="0" animBg="1"/>
      <p:bldP spid="231428" grpId="0" animBg="1"/>
      <p:bldP spid="231429" grpId="0" animBg="1"/>
      <p:bldP spid="231430" grpId="0" animBg="1"/>
      <p:bldP spid="231431" grpId="0" animBg="1"/>
      <p:bldP spid="231432" grpId="0" animBg="1"/>
      <p:bldP spid="231433" grpId="0" animBg="1"/>
      <p:bldP spid="231434" grpId="0" animBg="1"/>
      <p:bldP spid="231435" grpId="0" animBg="1"/>
      <p:bldP spid="231436" grpId="0" animBg="1"/>
      <p:bldP spid="231437" grpId="0" animBg="1"/>
      <p:bldP spid="231438" grpId="0" animBg="1"/>
      <p:bldP spid="231447" grpId="0"/>
      <p:bldP spid="231448" grpId="0"/>
      <p:bldP spid="231449" grpId="0"/>
      <p:bldP spid="231450" grpId="0"/>
      <p:bldP spid="231451" grpId="0"/>
      <p:bldP spid="231452" grpId="0"/>
      <p:bldP spid="231457" grpId="0"/>
      <p:bldP spid="231458" grpId="0"/>
      <p:bldP spid="231459" grpId="0"/>
      <p:bldP spid="231460" grpId="0"/>
      <p:bldP spid="231465" grpId="0"/>
      <p:bldP spid="231466" grpId="0"/>
      <p:bldP spid="231467" grpId="0" animBg="1"/>
      <p:bldP spid="231468" grpId="0" animBg="1"/>
      <p:bldP spid="231470" grpId="0" animBg="1"/>
      <p:bldP spid="231472" grpId="0"/>
      <p:bldP spid="23147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837F41-D032-49A7-97B1-45EA39EBDD92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Example</a:t>
            </a:r>
          </a:p>
        </p:txBody>
      </p:sp>
      <p:graphicFrame>
        <p:nvGraphicFramePr>
          <p:cNvPr id="234553" name="Group 57"/>
          <p:cNvGraphicFramePr>
            <a:graphicFrameLocks noGrp="1"/>
          </p:cNvGraphicFramePr>
          <p:nvPr>
            <p:ph sz="half" idx="1"/>
          </p:nvPr>
        </p:nvGraphicFramePr>
        <p:xfrm>
          <a:off x="1182688" y="2017713"/>
          <a:ext cx="4989512" cy="2782889"/>
        </p:xfrm>
        <a:graphic>
          <a:graphicData uri="http://schemas.openxmlformats.org/drawingml/2006/table">
            <a:tbl>
              <a:tblPr/>
              <a:tblGrid>
                <a:gridCol w="118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8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HIV+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HIV-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b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Test+</a:t>
                      </a:r>
                      <a:b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2300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2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Test-</a:t>
                      </a:r>
                      <a:b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B’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7650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4556" name="Object 6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143000" y="5051425"/>
          <a:ext cx="4572000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360" imgH="393480" progId="">
                  <p:embed/>
                </p:oleObj>
              </mc:Choice>
              <mc:Fallback>
                <p:oleObj name="Equation" r:id="rId3" imgW="1422360" imgH="393480" progId="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5051425"/>
                        <a:ext cx="4572000" cy="1265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art2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1650</TotalTime>
  <Words>2263</Words>
  <Application>Microsoft Office PowerPoint</Application>
  <PresentationFormat>On-screen Show (4:3)</PresentationFormat>
  <Paragraphs>458</Paragraphs>
  <Slides>39</Slides>
  <Notes>26</Notes>
  <HiddenSlides>5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Tahoma</vt:lpstr>
      <vt:lpstr>Times New Roman</vt:lpstr>
      <vt:lpstr>Wingdings</vt:lpstr>
      <vt:lpstr>Blends</vt:lpstr>
      <vt:lpstr>Chart</vt:lpstr>
      <vt:lpstr>Equation</vt:lpstr>
      <vt:lpstr>Inferential Statistics and Probability a Holistic Approach</vt:lpstr>
      <vt:lpstr>Probability</vt:lpstr>
      <vt:lpstr>Examples of Probability</vt:lpstr>
      <vt:lpstr>Classical Probability</vt:lpstr>
      <vt:lpstr>Example – Field Bet in Craps</vt:lpstr>
      <vt:lpstr>Sample Space  36 possible pairs of rolls</vt:lpstr>
      <vt:lpstr>More ways to make 5, 6, 7, 8</vt:lpstr>
      <vt:lpstr>Empirical Probability</vt:lpstr>
      <vt:lpstr>Rule of Complement</vt:lpstr>
      <vt:lpstr>Joint Probability</vt:lpstr>
      <vt:lpstr>Example</vt:lpstr>
      <vt:lpstr>Mutually Exclusive</vt:lpstr>
      <vt:lpstr>Conditional Probability</vt:lpstr>
      <vt:lpstr>Marginal, Joint and  Conditional Probability</vt:lpstr>
      <vt:lpstr>Contingency Tables</vt:lpstr>
      <vt:lpstr>Marginal  Probability</vt:lpstr>
      <vt:lpstr>Joint Probability</vt:lpstr>
      <vt:lpstr>Conditional  Probability</vt:lpstr>
      <vt:lpstr>Creating Contingency Tables</vt:lpstr>
      <vt:lpstr>Example</vt:lpstr>
      <vt:lpstr>Example </vt:lpstr>
      <vt:lpstr>Example </vt:lpstr>
      <vt:lpstr>Example </vt:lpstr>
      <vt:lpstr>Example </vt:lpstr>
      <vt:lpstr>Multiplicative Rule</vt:lpstr>
      <vt:lpstr>Multiplicative Rule – Tree Diagram</vt:lpstr>
      <vt:lpstr>Multiplicative Rule – Tree Diagram</vt:lpstr>
      <vt:lpstr>Multiplicative Rule – Tree Diagram</vt:lpstr>
      <vt:lpstr>Multiplicative Rule – Tree Diagram</vt:lpstr>
      <vt:lpstr>Independence</vt:lpstr>
      <vt:lpstr>Example</vt:lpstr>
      <vt:lpstr>Example</vt:lpstr>
      <vt:lpstr>Random Sample</vt:lpstr>
      <vt:lpstr>Tree Diagram method</vt:lpstr>
      <vt:lpstr>Circuit Problem</vt:lpstr>
      <vt:lpstr>Switching the Conditionality</vt:lpstr>
      <vt:lpstr>Example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part2</dc:title>
  <dc:creator>Mo Geraghty</dc:creator>
  <cp:lastModifiedBy>Juhani Henttonen</cp:lastModifiedBy>
  <cp:revision>195</cp:revision>
  <dcterms:created xsi:type="dcterms:W3CDTF">2000-03-28T01:20:54Z</dcterms:created>
  <dcterms:modified xsi:type="dcterms:W3CDTF">2026-03-22T10:34:49Z</dcterms:modified>
</cp:coreProperties>
</file>